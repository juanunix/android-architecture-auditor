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10287000" cx="18288000"/>
  <p:notesSz cx="6858000" cy="9144000"/>
  <p:embeddedFontLst>
    <p:embeddedFont>
      <p:font typeface="Inter SemiBold"/>
      <p:regular r:id="rId32"/>
      <p:bold r:id="rId33"/>
      <p:italic r:id="rId34"/>
      <p:boldItalic r:id="rId35"/>
    </p:embeddedFont>
    <p:embeddedFont>
      <p:font typeface="Rajdhani SemiBold"/>
      <p:regular r:id="rId36"/>
      <p:bold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Geist"/>
      <p:regular r:id="rId42"/>
      <p:bold r:id="rId43"/>
    </p:embeddedFont>
    <p:embeddedFont>
      <p:font typeface="Geist Medium"/>
      <p:regular r:id="rId44"/>
      <p:bold r:id="rId45"/>
    </p:embeddedFont>
    <p:embeddedFont>
      <p:font typeface="Geist SemiBold"/>
      <p:regular r:id="rId46"/>
      <p:bold r:id="rId47"/>
    </p:embeddedFont>
    <p:embeddedFont>
      <p:font typeface="Geist Black"/>
      <p:bold r:id="rId48"/>
    </p:embeddedFont>
    <p:embeddedFont>
      <p:font typeface="Quattrocento Sans"/>
      <p:regular r:id="rId49"/>
      <p:bold r:id="rId50"/>
      <p:italic r:id="rId51"/>
      <p:boldItalic r:id="rId52"/>
    </p:embeddedFont>
    <p:embeddedFont>
      <p:font typeface="Geist Light"/>
      <p:regular r:id="rId53"/>
      <p:bold r:id="rId54"/>
    </p:embeddedFont>
    <p:embeddedFont>
      <p:font typeface="JetBrains Mon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64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64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italic.fntdata"/><Relationship Id="rId42" Type="http://schemas.openxmlformats.org/officeDocument/2006/relationships/font" Target="fonts/Geist-regular.fntdata"/><Relationship Id="rId41" Type="http://schemas.openxmlformats.org/officeDocument/2006/relationships/font" Target="fonts/Inter-boldItalic.fntdata"/><Relationship Id="rId44" Type="http://schemas.openxmlformats.org/officeDocument/2006/relationships/font" Target="fonts/GeistMedium-regular.fntdata"/><Relationship Id="rId43" Type="http://schemas.openxmlformats.org/officeDocument/2006/relationships/font" Target="fonts/Geist-bold.fntdata"/><Relationship Id="rId46" Type="http://schemas.openxmlformats.org/officeDocument/2006/relationships/font" Target="fonts/GeistSemiBold-regular.fntdata"/><Relationship Id="rId45" Type="http://schemas.openxmlformats.org/officeDocument/2006/relationships/font" Target="fonts/Geis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GeistBlack-bold.fntdata"/><Relationship Id="rId47" Type="http://schemas.openxmlformats.org/officeDocument/2006/relationships/font" Target="fonts/GeistSemiBold-bold.fntdata"/><Relationship Id="rId49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InterSemiBold-bold.fntdata"/><Relationship Id="rId32" Type="http://schemas.openxmlformats.org/officeDocument/2006/relationships/font" Target="fonts/InterSemiBold-regular.fntdata"/><Relationship Id="rId35" Type="http://schemas.openxmlformats.org/officeDocument/2006/relationships/font" Target="fonts/InterSemiBold-boldItalic.fntdata"/><Relationship Id="rId34" Type="http://schemas.openxmlformats.org/officeDocument/2006/relationships/font" Target="fonts/InterSemiBold-italic.fntdata"/><Relationship Id="rId37" Type="http://schemas.openxmlformats.org/officeDocument/2006/relationships/font" Target="fonts/RajdhaniSemiBold-bold.fntdata"/><Relationship Id="rId36" Type="http://schemas.openxmlformats.org/officeDocument/2006/relationships/font" Target="fonts/RajdhaniSemiBold-regular.fntdata"/><Relationship Id="rId39" Type="http://schemas.openxmlformats.org/officeDocument/2006/relationships/font" Target="fonts/Inter-bold.fntdata"/><Relationship Id="rId38" Type="http://schemas.openxmlformats.org/officeDocument/2006/relationships/font" Target="fonts/Inter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QuattrocentoSans-italic.fntdata"/><Relationship Id="rId50" Type="http://schemas.openxmlformats.org/officeDocument/2006/relationships/font" Target="fonts/QuattrocentoSans-bold.fntdata"/><Relationship Id="rId53" Type="http://schemas.openxmlformats.org/officeDocument/2006/relationships/font" Target="fonts/GeistLight-regular.fntdata"/><Relationship Id="rId52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55" Type="http://schemas.openxmlformats.org/officeDocument/2006/relationships/font" Target="fonts/JetBrainsMono-regular.fntdata"/><Relationship Id="rId10" Type="http://schemas.openxmlformats.org/officeDocument/2006/relationships/slide" Target="slides/slide5.xml"/><Relationship Id="rId54" Type="http://schemas.openxmlformats.org/officeDocument/2006/relationships/font" Target="fonts/GeistLight-bold.fntdata"/><Relationship Id="rId13" Type="http://schemas.openxmlformats.org/officeDocument/2006/relationships/slide" Target="slides/slide8.xml"/><Relationship Id="rId57" Type="http://schemas.openxmlformats.org/officeDocument/2006/relationships/font" Target="fonts/JetBrainsMono-italic.fntdata"/><Relationship Id="rId12" Type="http://schemas.openxmlformats.org/officeDocument/2006/relationships/slide" Target="slides/slide7.xml"/><Relationship Id="rId56" Type="http://schemas.openxmlformats.org/officeDocument/2006/relationships/font" Target="fonts/JetBrains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JetBrains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arcinmoskala.com/ModifierOrderGuesser/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81c522b5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" name="Google Shape;18;g381c522b5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55a0fc1190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55a0fc1190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55a0fc119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55a0fc119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most important step is measuring and tracking our application.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second one is testing and reproducing situations that we want to debug.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then we start debugging.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present those topic in order, because only then them truly make sense.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d7e287a8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9d7e287a8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most important step is measuring and tracking our application.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second one is testing and reproducing situations that we want to debug.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then we start debugging.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present those topic in order, because only then them truly make sense.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6b2946a36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6b2946a36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cf8b2451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cf8b2451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guess many of you came here to learn about special tools for debugging coroutines. I will cover them, but first I need to cover much more important topics. Debugging is a process, and starting a debugger is the last, rarely reached, step.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most important step is measuring and tracking our application.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second one is testing and reproducing situations that we want to debug.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then we start debugging.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present those topic in order, because only then them truly make sense.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d7e287a8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d7e287a8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d7e287a8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d7e287a8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d7e287a8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d7e287a8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6b2946a36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6b2946a36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6b2946a36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6b2946a36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cf8b2451d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cf8b2451d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cf8b2451d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cf8b2451d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cf8b2451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cf8b2451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cf8b2451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cf8b2451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cf8b2451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cf8b2451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cf8b2451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cf8b2451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d7e287a8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d7e287a8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cf8b2451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cf8b2451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https://marcinmoskala.com/ModifierOrderGuesser/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cf8b2451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cf8b2451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cf8b2451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cf8b2451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6cf8b2451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6cf8b2451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2800c1ac1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2800c1ac1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2800c1ac1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2800c1ac1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2800c1ac1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2800c1ac1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6b2946a36_3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b6b2946a36_3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5996">
          <p15:clr>
            <a:srgbClr val="E46962"/>
          </p15:clr>
        </p15:guide>
        <p15:guide id="2" pos="484">
          <p15:clr>
            <a:srgbClr val="E46962"/>
          </p15:clr>
        </p15:guide>
        <p15:guide id="3" pos="11036">
          <p15:clr>
            <a:srgbClr val="E46962"/>
          </p15:clr>
        </p15:guide>
        <p15:guide id="4" orient="horz" pos="484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1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Inter SemiBold"/>
              <a:buNone/>
              <a:defRPr sz="5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623400" y="2304950"/>
            <a:ext cx="1140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609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jdhani SemiBold"/>
              <a:buChar char="●"/>
              <a:defRPr sz="6000">
                <a:solidFill>
                  <a:schemeClr val="lt1"/>
                </a:solidFill>
                <a:latin typeface="Rajdhani SemiBold"/>
                <a:ea typeface="Rajdhani SemiBold"/>
                <a:cs typeface="Rajdhani SemiBold"/>
                <a:sym typeface="Rajdhani SemiBold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○"/>
              <a:defRPr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■"/>
              <a:defRPr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●"/>
              <a:defRPr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○"/>
              <a:defRPr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■"/>
              <a:defRPr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●"/>
              <a:defRPr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○"/>
              <a:defRPr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■"/>
              <a:defRPr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996">
          <p15:clr>
            <a:srgbClr val="E46962"/>
          </p15:clr>
        </p15:guide>
        <p15:guide id="2" pos="484">
          <p15:clr>
            <a:srgbClr val="E46962"/>
          </p15:clr>
        </p15:guide>
        <p15:guide id="3" pos="11036">
          <p15:clr>
            <a:srgbClr val="E46962"/>
          </p15:clr>
        </p15:guide>
        <p15:guide id="4" orient="horz" pos="48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e">
  <p:cSld name="Pust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 SemiBold"/>
              <a:buNone/>
              <a:defRPr sz="5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Char char="●"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○"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■"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●"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○"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■"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●"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○"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■"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gif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/>
          <p:nvPr/>
        </p:nvSpPr>
        <p:spPr>
          <a:xfrm rot="8040202">
            <a:off x="-1627923" y="-1438958"/>
            <a:ext cx="4793000" cy="4793000"/>
          </a:xfrm>
          <a:prstGeom prst="ellipse">
            <a:avLst/>
          </a:prstGeom>
          <a:gradFill>
            <a:gsLst>
              <a:gs pos="0">
                <a:srgbClr val="FE2901"/>
              </a:gs>
              <a:gs pos="100000">
                <a:srgbClr val="000000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65900" lIns="131800" spcFirstLastPara="1" rIns="131800" wrap="square" tIns="65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"/>
          <p:cNvSpPr/>
          <p:nvPr/>
        </p:nvSpPr>
        <p:spPr>
          <a:xfrm rot="-5400000">
            <a:off x="5463944" y="-2931890"/>
            <a:ext cx="7359900" cy="16150800"/>
          </a:xfrm>
          <a:prstGeom prst="round2SameRect">
            <a:avLst>
              <a:gd fmla="val 7000" name="adj1"/>
              <a:gd fmla="val 0" name="adj2"/>
            </a:avLst>
          </a:prstGeom>
          <a:solidFill>
            <a:srgbClr val="0C0C0C"/>
          </a:solidFill>
          <a:ln cap="flat" cmpd="sng" w="18300">
            <a:solidFill>
              <a:srgbClr val="E7E6E6">
                <a:alpha val="298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5900" lIns="131800" spcFirstLastPara="1" rIns="131800" wrap="square" tIns="65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6"/>
          <p:cNvSpPr/>
          <p:nvPr/>
        </p:nvSpPr>
        <p:spPr>
          <a:xfrm>
            <a:off x="1529388" y="7413481"/>
            <a:ext cx="2246100" cy="57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E2901">
                  <a:alpha val="49803"/>
                </a:srgbClr>
              </a:gs>
              <a:gs pos="100000">
                <a:srgbClr val="000000">
                  <a:alpha val="0"/>
                </a:srgbClr>
              </a:gs>
            </a:gsLst>
            <a:lin ang="2700006" scaled="0"/>
          </a:gradFill>
          <a:ln cap="flat" cmpd="sng" w="13725">
            <a:solidFill>
              <a:srgbClr val="FE29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5900" lIns="131800" spcFirstLastPara="1" rIns="131800" wrap="square" tIns="65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6" title="logo-classic-horizont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388" y="2093666"/>
            <a:ext cx="3364250" cy="93634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 txBox="1"/>
          <p:nvPr/>
        </p:nvSpPr>
        <p:spPr>
          <a:xfrm>
            <a:off x="1501923" y="3443012"/>
            <a:ext cx="6344100" cy="3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131800" spcFirstLastPara="1" rIns="131800" wrap="square" tIns="65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02"/>
              <a:buFont typeface="Geist SemiBold"/>
              <a:buNone/>
            </a:pPr>
            <a:r>
              <a:rPr i="0" lang="en" sz="4901" u="none" cap="none" strike="noStrike">
                <a:solidFill>
                  <a:srgbClr val="FFFFFF"/>
                </a:solidFill>
                <a:latin typeface="Geist Light"/>
                <a:ea typeface="Geist Light"/>
                <a:cs typeface="Geist Light"/>
                <a:sym typeface="Geist Light"/>
              </a:rPr>
              <a:t>Understanding     Compose modifiers and how their order affects UI</a:t>
            </a:r>
            <a:endParaRPr sz="2018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25" name="Google Shape;25;p6"/>
          <p:cNvSpPr txBox="1"/>
          <p:nvPr/>
        </p:nvSpPr>
        <p:spPr>
          <a:xfrm>
            <a:off x="1646114" y="7358707"/>
            <a:ext cx="20124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0" u="none" cap="none" strike="noStrike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Marcin Moskała</a:t>
            </a:r>
            <a:endParaRPr b="0" i="0" sz="1730" u="none" cap="none" strike="noStrike">
              <a:solidFill>
                <a:srgbClr val="FFFFFF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grpSp>
        <p:nvGrpSpPr>
          <p:cNvPr id="26" name="Google Shape;26;p6"/>
          <p:cNvGrpSpPr/>
          <p:nvPr/>
        </p:nvGrpSpPr>
        <p:grpSpPr>
          <a:xfrm>
            <a:off x="3972515" y="7413248"/>
            <a:ext cx="2246024" cy="578266"/>
            <a:chOff x="3033793" y="5003447"/>
            <a:chExt cx="1557900" cy="401100"/>
          </a:xfrm>
        </p:grpSpPr>
        <p:sp>
          <p:nvSpPr>
            <p:cNvPr id="27" name="Google Shape;27;p6"/>
            <p:cNvSpPr/>
            <p:nvPr/>
          </p:nvSpPr>
          <p:spPr>
            <a:xfrm>
              <a:off x="3033793" y="5003447"/>
              <a:ext cx="1557900" cy="401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E2901">
                    <a:alpha val="49803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6" scaled="0"/>
            </a:gradFill>
            <a:ln cap="flat" cmpd="sng" w="13725">
              <a:solidFill>
                <a:srgbClr val="FE290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5900" lIns="131800" spcFirstLastPara="1" rIns="131800" wrap="square" tIns="6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6"/>
            <p:cNvSpPr txBox="1"/>
            <p:nvPr/>
          </p:nvSpPr>
          <p:spPr>
            <a:xfrm>
              <a:off x="3114755" y="5069769"/>
              <a:ext cx="13959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30" u="none" cap="none" strike="noStrike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730" u="none" cap="none" strike="noStrike">
                  <a:solidFill>
                    <a:srgbClr val="FFFFFF"/>
                  </a:solidFill>
                  <a:latin typeface="Geist Medium"/>
                  <a:ea typeface="Geist Medium"/>
                  <a:cs typeface="Geist Medium"/>
                  <a:sym typeface="Geist Medium"/>
                </a:rPr>
                <a:t>@marcinmoskala</a:t>
              </a:r>
              <a:endParaRPr b="0" i="0" sz="1730" u="none" cap="none" strike="noStrike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endParaRPr>
            </a:p>
          </p:txBody>
        </p:sp>
      </p:grpSp>
      <p:pic>
        <p:nvPicPr>
          <p:cNvPr id="29" name="Google Shape;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784" y="2495436"/>
            <a:ext cx="8446730" cy="5452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Geist SemiBold"/>
                <a:ea typeface="Geist SemiBold"/>
                <a:cs typeface="Geist SemiBold"/>
                <a:sym typeface="Geist SemiBold"/>
              </a:rPr>
              <a:t>Marcin Moskała</a:t>
            </a:r>
            <a:endParaRPr sz="6000"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23400" y="2304950"/>
            <a:ext cx="1140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Consultant, contractor, trainer</a:t>
            </a:r>
            <a:endParaRPr b="1" sz="2800"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latin typeface="Geist"/>
                <a:ea typeface="Geist"/>
                <a:cs typeface="Geist"/>
                <a:sym typeface="Geist"/>
              </a:rPr>
              <a:t>JetBrains</a:t>
            </a:r>
            <a:r>
              <a:rPr lang="en" sz="2800">
                <a:latin typeface="Geist"/>
                <a:ea typeface="Geist"/>
                <a:cs typeface="Geist"/>
                <a:sym typeface="Geist"/>
              </a:rPr>
              <a:t> partner for teaching Kotlin</a:t>
            </a:r>
            <a:br>
              <a:rPr lang="en" sz="2800">
                <a:latin typeface="Geist"/>
                <a:ea typeface="Geist"/>
                <a:cs typeface="Geist"/>
                <a:sym typeface="Geist"/>
              </a:rPr>
            </a:br>
            <a:r>
              <a:rPr b="1" lang="en" sz="2800">
                <a:latin typeface="Geist"/>
                <a:ea typeface="Geist"/>
                <a:cs typeface="Geist"/>
                <a:sym typeface="Geist"/>
              </a:rPr>
              <a:t>GDE</a:t>
            </a:r>
            <a:r>
              <a:rPr lang="en" sz="2800">
                <a:latin typeface="Geist"/>
                <a:ea typeface="Geist"/>
                <a:cs typeface="Geist"/>
                <a:sym typeface="Geist"/>
              </a:rPr>
              <a:t> in Android</a:t>
            </a:r>
            <a:endParaRPr sz="2800"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Creator of </a:t>
            </a:r>
            <a:r>
              <a:rPr b="1" lang="en" sz="2800">
                <a:latin typeface="Geist"/>
                <a:ea typeface="Geist"/>
                <a:cs typeface="Geist"/>
                <a:sym typeface="Geist"/>
              </a:rPr>
              <a:t>Coroutines Mastery</a:t>
            </a:r>
            <a:r>
              <a:rPr lang="en" sz="2800">
                <a:latin typeface="Geist"/>
                <a:ea typeface="Geist"/>
                <a:cs typeface="Geist"/>
                <a:sym typeface="Geist"/>
              </a:rPr>
              <a:t> learning experience.</a:t>
            </a:r>
            <a:endParaRPr sz="2800"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The author of:</a:t>
            </a:r>
            <a:endParaRPr sz="2800">
              <a:latin typeface="Geist"/>
              <a:ea typeface="Geist"/>
              <a:cs typeface="Geist"/>
              <a:sym typeface="Geist"/>
            </a:endParaRPr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Geist"/>
              <a:buChar char="●"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Kotlin Coroutines: Deep Dive</a:t>
            </a:r>
            <a:endParaRPr sz="2800">
              <a:latin typeface="Geist"/>
              <a:ea typeface="Geist"/>
              <a:cs typeface="Geist"/>
              <a:sym typeface="Geis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Geist"/>
              <a:buChar char="●"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Effective Kotlin: Best Practices</a:t>
            </a:r>
            <a:endParaRPr sz="2900">
              <a:latin typeface="Geist"/>
              <a:ea typeface="Geist"/>
              <a:cs typeface="Geist"/>
              <a:sym typeface="Geis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Geist"/>
              <a:buChar char="●"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Functional Kotlin</a:t>
            </a:r>
            <a:endParaRPr sz="2800">
              <a:latin typeface="Geist"/>
              <a:ea typeface="Geist"/>
              <a:cs typeface="Geist"/>
              <a:sym typeface="Geis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Geist"/>
              <a:buChar char="●"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Kotlin Essentials</a:t>
            </a:r>
            <a:endParaRPr sz="2800">
              <a:latin typeface="Geist"/>
              <a:ea typeface="Geist"/>
              <a:cs typeface="Geist"/>
              <a:sym typeface="Geis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Geist"/>
              <a:buChar char="●"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Advanced Kotlin</a:t>
            </a:r>
            <a:endParaRPr sz="2800">
              <a:latin typeface="Geist"/>
              <a:ea typeface="Geist"/>
              <a:cs typeface="Geist"/>
              <a:sym typeface="Geis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Geist"/>
              <a:buChar char="●"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Android development with Kotlin</a:t>
            </a:r>
            <a:endParaRPr sz="2800"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800">
                <a:latin typeface="Geist"/>
                <a:ea typeface="Geist"/>
                <a:cs typeface="Geist"/>
                <a:sym typeface="Geist"/>
              </a:rPr>
              <a:t>Founder of Kt. Academy www.kt.academy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" name="Google Shape;36;p7"/>
          <p:cNvSpPr/>
          <p:nvPr/>
        </p:nvSpPr>
        <p:spPr>
          <a:xfrm rot="5400000">
            <a:off x="9636479" y="2409741"/>
            <a:ext cx="3286081" cy="2939371"/>
          </a:xfrm>
          <a:custGeom>
            <a:rect b="b" l="l" r="r" t="t"/>
            <a:pathLst>
              <a:path extrusionOk="0" h="456247" w="510063">
                <a:moveTo>
                  <a:pt x="150733" y="0"/>
                </a:moveTo>
                <a:lnTo>
                  <a:pt x="359331" y="0"/>
                </a:lnTo>
                <a:cubicBezTo>
                  <a:pt x="386953" y="0"/>
                  <a:pt x="412671" y="16193"/>
                  <a:pt x="425053" y="40958"/>
                </a:cubicBezTo>
                <a:lnTo>
                  <a:pt x="502206" y="195263"/>
                </a:lnTo>
                <a:cubicBezTo>
                  <a:pt x="512683" y="216218"/>
                  <a:pt x="512683" y="240030"/>
                  <a:pt x="502206" y="260985"/>
                </a:cubicBezTo>
                <a:lnTo>
                  <a:pt x="425053" y="415290"/>
                </a:lnTo>
                <a:cubicBezTo>
                  <a:pt x="412671" y="440055"/>
                  <a:pt x="386953" y="456248"/>
                  <a:pt x="359331" y="456248"/>
                </a:cubicBezTo>
                <a:lnTo>
                  <a:pt x="150733" y="456248"/>
                </a:lnTo>
                <a:cubicBezTo>
                  <a:pt x="123111" y="456248"/>
                  <a:pt x="97393" y="440055"/>
                  <a:pt x="85011" y="415290"/>
                </a:cubicBezTo>
                <a:lnTo>
                  <a:pt x="7858" y="260985"/>
                </a:lnTo>
                <a:cubicBezTo>
                  <a:pt x="-2619" y="240030"/>
                  <a:pt x="-2619" y="216218"/>
                  <a:pt x="7858" y="195263"/>
                </a:cubicBezTo>
                <a:lnTo>
                  <a:pt x="85011" y="40958"/>
                </a:lnTo>
                <a:cubicBezTo>
                  <a:pt x="97393" y="16193"/>
                  <a:pt x="123111" y="0"/>
                  <a:pt x="150733" y="0"/>
                </a:cubicBezTo>
                <a:close/>
              </a:path>
            </a:pathLst>
          </a:custGeom>
          <a:solidFill>
            <a:srgbClr val="000000">
              <a:alpha val="51760"/>
            </a:srgbClr>
          </a:solidFill>
          <a:ln cap="flat" cmpd="sng" w="17775">
            <a:solidFill>
              <a:srgbClr val="FE29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3975" lIns="127975" spcFirstLastPara="1" rIns="127975" wrap="square" tIns="63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1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7"/>
          <p:cNvSpPr/>
          <p:nvPr/>
        </p:nvSpPr>
        <p:spPr>
          <a:xfrm rot="5400000">
            <a:off x="9933232" y="2255868"/>
            <a:ext cx="6967461" cy="6232334"/>
          </a:xfrm>
          <a:custGeom>
            <a:rect b="b" l="l" r="r" t="t"/>
            <a:pathLst>
              <a:path extrusionOk="0" h="456247" w="510063">
                <a:moveTo>
                  <a:pt x="150733" y="0"/>
                </a:moveTo>
                <a:lnTo>
                  <a:pt x="359331" y="0"/>
                </a:lnTo>
                <a:cubicBezTo>
                  <a:pt x="386953" y="0"/>
                  <a:pt x="412671" y="16193"/>
                  <a:pt x="425053" y="40958"/>
                </a:cubicBezTo>
                <a:lnTo>
                  <a:pt x="502206" y="195263"/>
                </a:lnTo>
                <a:cubicBezTo>
                  <a:pt x="512683" y="216218"/>
                  <a:pt x="512683" y="240030"/>
                  <a:pt x="502206" y="260985"/>
                </a:cubicBezTo>
                <a:lnTo>
                  <a:pt x="425053" y="415290"/>
                </a:lnTo>
                <a:cubicBezTo>
                  <a:pt x="412671" y="440055"/>
                  <a:pt x="386953" y="456248"/>
                  <a:pt x="359331" y="456248"/>
                </a:cubicBezTo>
                <a:lnTo>
                  <a:pt x="150733" y="456248"/>
                </a:lnTo>
                <a:cubicBezTo>
                  <a:pt x="123111" y="456248"/>
                  <a:pt x="97393" y="440055"/>
                  <a:pt x="85011" y="415290"/>
                </a:cubicBezTo>
                <a:lnTo>
                  <a:pt x="7858" y="260985"/>
                </a:lnTo>
                <a:cubicBezTo>
                  <a:pt x="-2619" y="240030"/>
                  <a:pt x="-2619" y="216218"/>
                  <a:pt x="7858" y="195263"/>
                </a:cubicBezTo>
                <a:lnTo>
                  <a:pt x="85011" y="40958"/>
                </a:lnTo>
                <a:cubicBezTo>
                  <a:pt x="97393" y="16193"/>
                  <a:pt x="123111" y="0"/>
                  <a:pt x="150733" y="0"/>
                </a:cubicBezTo>
                <a:close/>
              </a:path>
            </a:pathLst>
          </a:custGeom>
          <a:solidFill>
            <a:srgbClr val="000000"/>
          </a:solidFill>
          <a:ln cap="flat" cmpd="sng" w="17775">
            <a:solidFill>
              <a:srgbClr val="FE29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3975" lIns="127975" spcFirstLastPara="1" rIns="127975" wrap="square" tIns="63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1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4359" y="2423375"/>
            <a:ext cx="5546197" cy="619947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/>
          <p:nvPr/>
        </p:nvSpPr>
        <p:spPr>
          <a:xfrm rot="5400000">
            <a:off x="13912944" y="5610543"/>
            <a:ext cx="3286081" cy="2939371"/>
          </a:xfrm>
          <a:custGeom>
            <a:rect b="b" l="l" r="r" t="t"/>
            <a:pathLst>
              <a:path extrusionOk="0" h="456247" w="510063">
                <a:moveTo>
                  <a:pt x="150733" y="0"/>
                </a:moveTo>
                <a:lnTo>
                  <a:pt x="359331" y="0"/>
                </a:lnTo>
                <a:cubicBezTo>
                  <a:pt x="386953" y="0"/>
                  <a:pt x="412671" y="16193"/>
                  <a:pt x="425053" y="40958"/>
                </a:cubicBezTo>
                <a:lnTo>
                  <a:pt x="502206" y="195263"/>
                </a:lnTo>
                <a:cubicBezTo>
                  <a:pt x="512683" y="216218"/>
                  <a:pt x="512683" y="240030"/>
                  <a:pt x="502206" y="260985"/>
                </a:cubicBezTo>
                <a:lnTo>
                  <a:pt x="425053" y="415290"/>
                </a:lnTo>
                <a:cubicBezTo>
                  <a:pt x="412671" y="440055"/>
                  <a:pt x="386953" y="456248"/>
                  <a:pt x="359331" y="456248"/>
                </a:cubicBezTo>
                <a:lnTo>
                  <a:pt x="150733" y="456248"/>
                </a:lnTo>
                <a:cubicBezTo>
                  <a:pt x="123111" y="456248"/>
                  <a:pt x="97393" y="440055"/>
                  <a:pt x="85011" y="415290"/>
                </a:cubicBezTo>
                <a:lnTo>
                  <a:pt x="7858" y="260985"/>
                </a:lnTo>
                <a:cubicBezTo>
                  <a:pt x="-2619" y="240030"/>
                  <a:pt x="-2619" y="216218"/>
                  <a:pt x="7858" y="195263"/>
                </a:cubicBezTo>
                <a:lnTo>
                  <a:pt x="85011" y="40958"/>
                </a:lnTo>
                <a:cubicBezTo>
                  <a:pt x="97393" y="16193"/>
                  <a:pt x="123111" y="0"/>
                  <a:pt x="150733" y="0"/>
                </a:cubicBezTo>
                <a:close/>
              </a:path>
            </a:pathLst>
          </a:custGeom>
          <a:solidFill>
            <a:srgbClr val="000000">
              <a:alpha val="51760"/>
            </a:srgbClr>
          </a:solidFill>
          <a:ln cap="flat" cmpd="sng" w="17775">
            <a:solidFill>
              <a:srgbClr val="FE29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3975" lIns="127975" spcFirstLastPara="1" rIns="127975" wrap="square" tIns="63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1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8"/>
          <p:cNvPicPr preferRelativeResize="0"/>
          <p:nvPr/>
        </p:nvPicPr>
        <p:blipFill rotWithShape="1">
          <a:blip r:embed="rId3">
            <a:alphaModFix/>
          </a:blip>
          <a:srcRect b="0" l="0" r="0" t="4889"/>
          <a:stretch/>
        </p:blipFill>
        <p:spPr>
          <a:xfrm>
            <a:off x="1816575" y="396362"/>
            <a:ext cx="14654700" cy="9494400"/>
          </a:xfrm>
          <a:prstGeom prst="roundRect">
            <a:avLst>
              <a:gd fmla="val 3165" name="adj"/>
            </a:avLst>
          </a:prstGeom>
          <a:noFill/>
          <a:ln>
            <a:noFill/>
          </a:ln>
        </p:spPr>
      </p:pic>
      <p:sp>
        <p:nvSpPr>
          <p:cNvPr id="45" name="Google Shape;45;p8"/>
          <p:cNvSpPr/>
          <p:nvPr/>
        </p:nvSpPr>
        <p:spPr>
          <a:xfrm>
            <a:off x="3037575" y="3553850"/>
            <a:ext cx="10173300" cy="1961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8"/>
          <p:cNvSpPr/>
          <p:nvPr/>
        </p:nvSpPr>
        <p:spPr>
          <a:xfrm>
            <a:off x="3650000" y="7855200"/>
            <a:ext cx="3381300" cy="821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250" y="1115600"/>
            <a:ext cx="10284000" cy="4609800"/>
          </a:xfrm>
          <a:prstGeom prst="roundRect">
            <a:avLst>
              <a:gd fmla="val 6213" name="adj"/>
            </a:avLst>
          </a:prstGeom>
          <a:noFill/>
          <a:ln>
            <a:noFill/>
          </a:ln>
        </p:spPr>
      </p:pic>
      <p:sp>
        <p:nvSpPr>
          <p:cNvPr id="52" name="Google Shape;52;p9"/>
          <p:cNvSpPr/>
          <p:nvPr/>
        </p:nvSpPr>
        <p:spPr>
          <a:xfrm>
            <a:off x="2589350" y="2293200"/>
            <a:ext cx="5266800" cy="72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53;p9"/>
          <p:cNvSpPr/>
          <p:nvPr/>
        </p:nvSpPr>
        <p:spPr>
          <a:xfrm>
            <a:off x="3105925" y="4154500"/>
            <a:ext cx="5394600" cy="72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" name="Google Shape;5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1425" y="1115600"/>
            <a:ext cx="2597701" cy="25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42250" y="3713300"/>
            <a:ext cx="1776050" cy="1776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 txBox="1"/>
          <p:nvPr/>
        </p:nvSpPr>
        <p:spPr>
          <a:xfrm>
            <a:off x="1163850" y="7160550"/>
            <a:ext cx="15960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 is this way of seeing modifiers wrong?</a:t>
            </a:r>
            <a:endParaRPr sz="3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Makes devs assume that modifiers are implemented by components</a:t>
            </a:r>
            <a:endParaRPr sz="3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/>
        </p:nvSpPr>
        <p:spPr>
          <a:xfrm>
            <a:off x="458800" y="1582050"/>
            <a:ext cx="12846000" cy="73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75" lIns="190575" spcFirstLastPara="1" rIns="190575" wrap="square" tIns="190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</a:t>
            </a:r>
            <a:endParaRPr sz="3000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30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BasicText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text: String,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modifier: Modifier = Modifier,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style: TextStyle = TextStyle.Default,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onTextLayout: ((TextLayoutResult) -&gt; Unit)? = </a:t>
            </a:r>
            <a:r>
              <a:rPr lang="en" sz="30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overflow: TextOverflow = TextOverflow.</a:t>
            </a:r>
            <a:r>
              <a:rPr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Clip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softWrap: Boolean = </a:t>
            </a:r>
            <a:r>
              <a:rPr lang="en" sz="30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maxLines: Int = Int.</a:t>
            </a:r>
            <a:r>
              <a:rPr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MAX_VALUE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minLines: Int = </a:t>
            </a:r>
            <a:r>
              <a:rPr lang="en" sz="30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color: ColorProducer? = </a:t>
            </a:r>
            <a:r>
              <a:rPr lang="en" sz="30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endParaRPr sz="3000">
              <a:solidFill>
                <a:srgbClr val="CF8E6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30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…</a:t>
            </a:r>
            <a:endParaRPr sz="3000">
              <a:solidFill>
                <a:srgbClr val="7A7E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Layout(finalModifier, EmptyMeasurePolicy)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3000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62" name="Google Shape;62;p10"/>
          <p:cNvCxnSpPr>
            <a:stCxn id="63" idx="2"/>
            <a:endCxn id="64" idx="0"/>
          </p:cNvCxnSpPr>
          <p:nvPr/>
        </p:nvCxnSpPr>
        <p:spPr>
          <a:xfrm>
            <a:off x="15732602" y="2090650"/>
            <a:ext cx="0" cy="365100"/>
          </a:xfrm>
          <a:prstGeom prst="straightConnector1">
            <a:avLst/>
          </a:prstGeom>
          <a:noFill/>
          <a:ln cap="flat" cmpd="sng" w="395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3" name="Google Shape;63;p10"/>
          <p:cNvSpPr/>
          <p:nvPr/>
        </p:nvSpPr>
        <p:spPr>
          <a:xfrm>
            <a:off x="13946102" y="1269850"/>
            <a:ext cx="3573000" cy="82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4528"/>
              </a:gs>
              <a:gs pos="100000">
                <a:schemeClr val="dk1"/>
              </a:gs>
            </a:gsLst>
            <a:lin ang="8100019" scaled="0"/>
          </a:gradFill>
          <a:ln cap="flat" cmpd="sng" w="9525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6850" lIns="113700" spcFirstLastPara="1" rIns="113700" wrap="square" tIns="5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0"/>
          <p:cNvSpPr/>
          <p:nvPr/>
        </p:nvSpPr>
        <p:spPr>
          <a:xfrm>
            <a:off x="13946102" y="2455717"/>
            <a:ext cx="3573000" cy="82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4528"/>
              </a:gs>
              <a:gs pos="100000">
                <a:schemeClr val="dk1"/>
              </a:gs>
            </a:gsLst>
            <a:lin ang="8100019" scaled="0"/>
          </a:gradFill>
          <a:ln cap="flat" cmpd="sng" w="9525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6850" lIns="113700" spcFirstLastPara="1" rIns="113700" wrap="square" tIns="5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/>
          <p:nvPr/>
        </p:nvSpPr>
        <p:spPr>
          <a:xfrm>
            <a:off x="13946102" y="3641584"/>
            <a:ext cx="3573000" cy="82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4528"/>
              </a:gs>
              <a:gs pos="100000">
                <a:schemeClr val="dk1"/>
              </a:gs>
            </a:gsLst>
            <a:lin ang="8100019" scaled="0"/>
          </a:gradFill>
          <a:ln cap="flat" cmpd="sng" w="9525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6850" lIns="113700" spcFirstLastPara="1" rIns="113700" wrap="square" tIns="5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13946102" y="4827450"/>
            <a:ext cx="3573000" cy="82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4528"/>
              </a:gs>
              <a:gs pos="100000">
                <a:schemeClr val="dk1"/>
              </a:gs>
            </a:gsLst>
            <a:lin ang="8100019" scaled="0"/>
          </a:gradFill>
          <a:ln cap="flat" cmpd="sng" w="9525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6850" lIns="113700" spcFirstLastPara="1" rIns="113700" wrap="square" tIns="5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13946102" y="6013317"/>
            <a:ext cx="3573000" cy="82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4528"/>
              </a:gs>
              <a:gs pos="100000">
                <a:schemeClr val="dk1"/>
              </a:gs>
            </a:gsLst>
            <a:lin ang="8100019" scaled="0"/>
          </a:gradFill>
          <a:ln cap="flat" cmpd="sng" w="9525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6850" lIns="113700" spcFirstLastPara="1" rIns="113700" wrap="square" tIns="5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0"/>
          <p:cNvSpPr/>
          <p:nvPr/>
        </p:nvSpPr>
        <p:spPr>
          <a:xfrm>
            <a:off x="13946102" y="7199184"/>
            <a:ext cx="3573000" cy="82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4528"/>
              </a:gs>
              <a:gs pos="100000">
                <a:schemeClr val="dk1"/>
              </a:gs>
            </a:gsLst>
            <a:lin ang="8100019" scaled="0"/>
          </a:gradFill>
          <a:ln cap="flat" cmpd="sng" w="9525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6850" lIns="113700" spcFirstLastPara="1" rIns="113700" wrap="square" tIns="5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13946102" y="8385050"/>
            <a:ext cx="3573000" cy="820800"/>
          </a:xfrm>
          <a:prstGeom prst="roundRect">
            <a:avLst>
              <a:gd fmla="val 50000" name="adj"/>
            </a:avLst>
          </a:prstGeom>
          <a:solidFill>
            <a:srgbClr val="FF4528"/>
          </a:solidFill>
          <a:ln>
            <a:noFill/>
          </a:ln>
        </p:spPr>
        <p:txBody>
          <a:bodyPr anchorCtr="0" anchor="ctr" bIns="56850" lIns="113700" spcFirstLastPara="1" rIns="113700" wrap="square" tIns="56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4429806" y="7294880"/>
            <a:ext cx="2605500" cy="62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158025" lIns="158025" spcFirstLastPara="1" rIns="158025" wrap="square" tIns="15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p</a:t>
            </a: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ointerinput</a:t>
            </a:r>
            <a:endParaRPr sz="1741"/>
          </a:p>
        </p:txBody>
      </p:sp>
      <p:sp>
        <p:nvSpPr>
          <p:cNvPr id="71" name="Google Shape;71;p10"/>
          <p:cNvSpPr/>
          <p:nvPr/>
        </p:nvSpPr>
        <p:spPr>
          <a:xfrm>
            <a:off x="14429808" y="6109013"/>
            <a:ext cx="2605500" cy="62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158025" lIns="158025" spcFirstLastPara="1" rIns="158025" wrap="square" tIns="15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s</a:t>
            </a: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emantics</a:t>
            </a:r>
            <a:endParaRPr sz="1741"/>
          </a:p>
        </p:txBody>
      </p:sp>
      <p:sp>
        <p:nvSpPr>
          <p:cNvPr id="72" name="Google Shape;72;p10"/>
          <p:cNvSpPr/>
          <p:nvPr/>
        </p:nvSpPr>
        <p:spPr>
          <a:xfrm>
            <a:off x="14119410" y="4923147"/>
            <a:ext cx="3226200" cy="62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158025" lIns="158025" spcFirstLastPara="1" rIns="158025" wrap="square" tIns="15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o</a:t>
            </a: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nGloballyPositioned</a:t>
            </a:r>
            <a:endParaRPr sz="1741"/>
          </a:p>
        </p:txBody>
      </p:sp>
      <p:sp>
        <p:nvSpPr>
          <p:cNvPr id="73" name="Google Shape;73;p10"/>
          <p:cNvSpPr/>
          <p:nvPr/>
        </p:nvSpPr>
        <p:spPr>
          <a:xfrm>
            <a:off x="14429810" y="3737280"/>
            <a:ext cx="2605500" cy="62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158025" lIns="158025" spcFirstLastPara="1" rIns="158025" wrap="square" tIns="15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d</a:t>
            </a: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rawBehind</a:t>
            </a:r>
            <a:endParaRPr sz="1741"/>
          </a:p>
        </p:txBody>
      </p:sp>
      <p:sp>
        <p:nvSpPr>
          <p:cNvPr id="74" name="Google Shape;74;p10"/>
          <p:cNvSpPr/>
          <p:nvPr/>
        </p:nvSpPr>
        <p:spPr>
          <a:xfrm>
            <a:off x="14429810" y="2551413"/>
            <a:ext cx="2605500" cy="62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158025" lIns="158025" spcFirstLastPara="1" rIns="158025" wrap="square" tIns="15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g</a:t>
            </a: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raphicsLayer</a:t>
            </a:r>
            <a:endParaRPr sz="1741"/>
          </a:p>
        </p:txBody>
      </p:sp>
      <p:sp>
        <p:nvSpPr>
          <p:cNvPr id="75" name="Google Shape;75;p10"/>
          <p:cNvSpPr/>
          <p:nvPr/>
        </p:nvSpPr>
        <p:spPr>
          <a:xfrm>
            <a:off x="14429810" y="1365546"/>
            <a:ext cx="2605500" cy="62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158025" lIns="158025" spcFirstLastPara="1" rIns="158025" wrap="square" tIns="15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c</a:t>
            </a:r>
            <a:r>
              <a:rPr lang="en" sz="1989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lickable</a:t>
            </a:r>
            <a:endParaRPr sz="1741"/>
          </a:p>
        </p:txBody>
      </p:sp>
      <p:sp>
        <p:nvSpPr>
          <p:cNvPr id="76" name="Google Shape;76;p10"/>
          <p:cNvSpPr txBox="1"/>
          <p:nvPr/>
        </p:nvSpPr>
        <p:spPr>
          <a:xfrm>
            <a:off x="14829929" y="8516746"/>
            <a:ext cx="18051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850" lIns="113700" spcFirstLastPara="1" rIns="113700" wrap="square" tIns="568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87"/>
              <a:buFont typeface="Geist Black"/>
              <a:buNone/>
            </a:pPr>
            <a:r>
              <a:rPr b="0" lang="en" sz="2487" u="none">
                <a:solidFill>
                  <a:srgbClr val="FFFFFF"/>
                </a:solidFill>
                <a:latin typeface="Geist Black"/>
                <a:ea typeface="Geist Black"/>
                <a:cs typeface="Geist Black"/>
                <a:sym typeface="Geist Black"/>
              </a:rPr>
              <a:t>Layout</a:t>
            </a:r>
            <a:endParaRPr sz="1741"/>
          </a:p>
        </p:txBody>
      </p:sp>
      <p:cxnSp>
        <p:nvCxnSpPr>
          <p:cNvPr id="77" name="Google Shape;77;p10"/>
          <p:cNvCxnSpPr>
            <a:stCxn id="68" idx="2"/>
          </p:cNvCxnSpPr>
          <p:nvPr/>
        </p:nvCxnSpPr>
        <p:spPr>
          <a:xfrm>
            <a:off x="15732602" y="8019984"/>
            <a:ext cx="0" cy="318600"/>
          </a:xfrm>
          <a:prstGeom prst="straightConnector1">
            <a:avLst/>
          </a:prstGeom>
          <a:noFill/>
          <a:ln cap="flat" cmpd="sng" w="395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8" name="Google Shape;78;p10"/>
          <p:cNvCxnSpPr/>
          <p:nvPr/>
        </p:nvCxnSpPr>
        <p:spPr>
          <a:xfrm>
            <a:off x="15732513" y="3276482"/>
            <a:ext cx="0" cy="365400"/>
          </a:xfrm>
          <a:prstGeom prst="straightConnector1">
            <a:avLst/>
          </a:prstGeom>
          <a:noFill/>
          <a:ln cap="flat" cmpd="sng" w="395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" name="Google Shape;79;p10"/>
          <p:cNvCxnSpPr/>
          <p:nvPr/>
        </p:nvCxnSpPr>
        <p:spPr>
          <a:xfrm>
            <a:off x="15732513" y="4462349"/>
            <a:ext cx="0" cy="365400"/>
          </a:xfrm>
          <a:prstGeom prst="straightConnector1">
            <a:avLst/>
          </a:prstGeom>
          <a:noFill/>
          <a:ln cap="flat" cmpd="sng" w="395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0" name="Google Shape;80;p10"/>
          <p:cNvCxnSpPr/>
          <p:nvPr/>
        </p:nvCxnSpPr>
        <p:spPr>
          <a:xfrm>
            <a:off x="15732513" y="5648216"/>
            <a:ext cx="0" cy="365400"/>
          </a:xfrm>
          <a:prstGeom prst="straightConnector1">
            <a:avLst/>
          </a:prstGeom>
          <a:noFill/>
          <a:ln cap="flat" cmpd="sng" w="395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10"/>
          <p:cNvCxnSpPr/>
          <p:nvPr/>
        </p:nvCxnSpPr>
        <p:spPr>
          <a:xfrm>
            <a:off x="15732513" y="6834082"/>
            <a:ext cx="0" cy="365400"/>
          </a:xfrm>
          <a:prstGeom prst="straightConnector1">
            <a:avLst/>
          </a:prstGeom>
          <a:noFill/>
          <a:ln cap="flat" cmpd="sng" w="395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250" y="1115600"/>
            <a:ext cx="10284000" cy="4609800"/>
          </a:xfrm>
          <a:prstGeom prst="roundRect">
            <a:avLst>
              <a:gd fmla="val 6213" name="adj"/>
            </a:avLst>
          </a:prstGeom>
          <a:noFill/>
          <a:ln>
            <a:noFill/>
          </a:ln>
        </p:spPr>
      </p:pic>
      <p:sp>
        <p:nvSpPr>
          <p:cNvPr id="87" name="Google Shape;87;p11"/>
          <p:cNvSpPr/>
          <p:nvPr/>
        </p:nvSpPr>
        <p:spPr>
          <a:xfrm>
            <a:off x="2589350" y="2293200"/>
            <a:ext cx="5266800" cy="72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3105925" y="4154500"/>
            <a:ext cx="5394600" cy="72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" name="Google Shape;8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1425" y="1115600"/>
            <a:ext cx="2597701" cy="25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42250" y="3713300"/>
            <a:ext cx="1776050" cy="177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>
            <a:off x="1163850" y="7160550"/>
            <a:ext cx="15960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 is this way of seeing modifiers wrong?</a:t>
            </a:r>
            <a:endParaRPr sz="3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Char char="●"/>
            </a:pPr>
            <a:r>
              <a:rPr lang="en"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Makes devs assume that modifiers are implemented by components</a:t>
            </a:r>
            <a:endParaRPr sz="3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Char char="●"/>
            </a:pPr>
            <a:r>
              <a:rPr lang="en"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Makes it confusing how modifiers order affects UI</a:t>
            </a:r>
            <a:endParaRPr sz="3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2"/>
          <p:cNvPicPr preferRelativeResize="0"/>
          <p:nvPr/>
        </p:nvPicPr>
        <p:blipFill rotWithShape="1">
          <a:blip r:embed="rId3">
            <a:alphaModFix/>
          </a:blip>
          <a:srcRect b="11963" l="0" r="0" t="58931"/>
          <a:stretch/>
        </p:blipFill>
        <p:spPr>
          <a:xfrm>
            <a:off x="8223975" y="7985437"/>
            <a:ext cx="2514900" cy="1412400"/>
          </a:xfrm>
          <a:prstGeom prst="roundRect">
            <a:avLst>
              <a:gd fmla="val 11475" name="adj"/>
            </a:avLst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 rotWithShape="1">
          <a:blip r:embed="rId4">
            <a:alphaModFix/>
          </a:blip>
          <a:srcRect b="67053" l="0" r="0" t="0"/>
          <a:stretch/>
        </p:blipFill>
        <p:spPr>
          <a:xfrm>
            <a:off x="8251875" y="889162"/>
            <a:ext cx="2361600" cy="1412400"/>
          </a:xfrm>
          <a:prstGeom prst="roundRect">
            <a:avLst>
              <a:gd fmla="val 10875" name="adj"/>
            </a:avLst>
          </a:prstGeom>
          <a:noFill/>
          <a:ln>
            <a:noFill/>
          </a:ln>
        </p:spPr>
      </p:pic>
      <p:sp>
        <p:nvSpPr>
          <p:cNvPr id="98" name="Google Shape;98;p12"/>
          <p:cNvSpPr txBox="1"/>
          <p:nvPr/>
        </p:nvSpPr>
        <p:spPr>
          <a:xfrm>
            <a:off x="969550" y="525450"/>
            <a:ext cx="5328000" cy="9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250" lIns="183250" spcFirstLastPara="1" rIns="183250" wrap="square" tIns="183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= </a:t>
            </a:r>
            <a:r>
              <a:rPr lang="en" sz="24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"Hello, World!"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4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= </a:t>
            </a:r>
            <a:r>
              <a:rPr lang="en" sz="24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"Hello, World!"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4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= </a:t>
            </a:r>
            <a:r>
              <a:rPr lang="en" sz="24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"Hello, World!"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clickable </a:t>
            </a:r>
            <a:r>
              <a:rPr b="1"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  }</a:t>
            </a:r>
            <a:endParaRPr b="1"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4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= </a:t>
            </a:r>
            <a:r>
              <a:rPr lang="en" sz="24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"Hello, World!"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4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clickable </a:t>
            </a:r>
            <a:r>
              <a:rPr b="1"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  }</a:t>
            </a:r>
            <a:endParaRPr b="1"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0099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99" name="Google Shape;99;p12"/>
          <p:cNvPicPr preferRelativeResize="0"/>
          <p:nvPr/>
        </p:nvPicPr>
        <p:blipFill rotWithShape="1">
          <a:blip r:embed="rId4">
            <a:alphaModFix/>
          </a:blip>
          <a:srcRect b="4339" l="0" r="0" t="62718"/>
          <a:stretch/>
        </p:blipFill>
        <p:spPr>
          <a:xfrm>
            <a:off x="8251875" y="3254588"/>
            <a:ext cx="2361600" cy="1412400"/>
          </a:xfrm>
          <a:prstGeom prst="roundRect">
            <a:avLst>
              <a:gd fmla="val 10875" name="adj"/>
            </a:avLst>
          </a:prstGeom>
          <a:noFill/>
          <a:ln>
            <a:noFill/>
          </a:ln>
        </p:spPr>
      </p:pic>
      <p:pic>
        <p:nvPicPr>
          <p:cNvPr id="100" name="Google Shape;100;p12"/>
          <p:cNvPicPr preferRelativeResize="0"/>
          <p:nvPr/>
        </p:nvPicPr>
        <p:blipFill rotWithShape="1">
          <a:blip r:embed="rId3">
            <a:alphaModFix/>
          </a:blip>
          <a:srcRect b="65972" l="0" r="0" t="4919"/>
          <a:stretch/>
        </p:blipFill>
        <p:spPr>
          <a:xfrm>
            <a:off x="8223963" y="5620012"/>
            <a:ext cx="2514900" cy="1412400"/>
          </a:xfrm>
          <a:prstGeom prst="roundRect">
            <a:avLst>
              <a:gd fmla="val 11475" name="adj"/>
            </a:avLst>
          </a:prstGeom>
          <a:noFill/>
          <a:ln>
            <a:noFill/>
          </a:ln>
        </p:spPr>
      </p:pic>
      <p:pic>
        <p:nvPicPr>
          <p:cNvPr id="101" name="Google Shape;10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31425" y="1115600"/>
            <a:ext cx="2597701" cy="259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3">
            <a:alphaModFix/>
          </a:blip>
          <a:srcRect b="0" l="0" r="0" t="6838"/>
          <a:stretch/>
        </p:blipFill>
        <p:spPr>
          <a:xfrm>
            <a:off x="3756675" y="422162"/>
            <a:ext cx="10774500" cy="9442800"/>
          </a:xfrm>
          <a:prstGeom prst="roundRect">
            <a:avLst>
              <a:gd fmla="val 528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/>
        </p:nvSpPr>
        <p:spPr>
          <a:xfrm>
            <a:off x="8175751" y="632250"/>
            <a:ext cx="9093600" cy="8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0" lIns="164500" spcFirstLastPara="1" rIns="164500" wrap="square" tIns="164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</a:t>
            </a:r>
            <a:endParaRPr sz="1979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979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Modifier: </a:t>
            </a:r>
            <a:r>
              <a:rPr lang="en" sz="1979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-&gt; Unit =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Modifier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Size(</a:t>
            </a:r>
            <a:r>
              <a:rPr lang="en" sz="1979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.dp)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Background(Color.</a:t>
            </a:r>
            <a:r>
              <a:rPr i="1" lang="en" sz="1979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Padding(</a:t>
            </a:r>
            <a:r>
              <a:rPr lang="en" sz="1979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.dp)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Background(Color.</a:t>
            </a:r>
            <a:r>
              <a:rPr i="1" lang="en" sz="1979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Padding(</a:t>
            </a:r>
            <a:r>
              <a:rPr lang="en" sz="1979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.dp)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Background(Blue)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 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Padding(</a:t>
            </a:r>
            <a:r>
              <a:rPr lang="en" sz="1979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.dp)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     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                </a:t>
            </a:r>
            <a:r>
              <a:rPr lang="en" sz="1979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...,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            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       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   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   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  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9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265775" y="1989310"/>
            <a:ext cx="6312600" cy="6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0" lIns="164500" spcFirstLastPara="1" rIns="164500" wrap="square" tIns="164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</a:t>
            </a:r>
            <a:endParaRPr sz="1979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979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modifier: Modifier = Modifier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Box(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979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.size(</a:t>
            </a:r>
            <a:r>
              <a:rPr lang="en" sz="1979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.dp)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r>
              <a:rPr lang="en" sz="1979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...,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modifier = Modifier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.background(Color.</a:t>
            </a:r>
            <a:r>
              <a:rPr i="1" lang="en" sz="1979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.padding(</a:t>
            </a:r>
            <a:r>
              <a:rPr lang="en" sz="1979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.dp)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.background(Color.</a:t>
            </a:r>
            <a:r>
              <a:rPr i="1" lang="en" sz="1979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.padding(</a:t>
            </a:r>
            <a:r>
              <a:rPr lang="en" sz="1979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.dp)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.background(Blue)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.padding(</a:t>
            </a:r>
            <a:r>
              <a:rPr lang="en" sz="1979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.dp)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)</a:t>
            </a:r>
            <a:endParaRPr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979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9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799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13" name="Google Shape;11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392" y="3655925"/>
            <a:ext cx="2582484" cy="248315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279610" y="9162756"/>
            <a:ext cx="68859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0" lIns="164500" spcFirstLastPara="1" rIns="164500" wrap="square" tIns="164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 design</a:t>
            </a:r>
            <a:endParaRPr sz="377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265775" y="9061206"/>
            <a:ext cx="58461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0" lIns="164500" spcFirstLastPara="1" rIns="164500" wrap="square" tIns="164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8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design</a:t>
            </a:r>
            <a:endParaRPr sz="3778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3103525" y="3655925"/>
            <a:ext cx="1281300" cy="30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8705600" y="1989300"/>
            <a:ext cx="1688700" cy="347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/>
        </p:nvSpPr>
        <p:spPr>
          <a:xfrm>
            <a:off x="230976" y="1450000"/>
            <a:ext cx="10412100" cy="78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325" lIns="184325" spcFirstLastPara="1" rIns="184325" wrap="square" tIns="184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</a:t>
            </a:r>
            <a:endParaRPr sz="2100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21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UserItem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user: User = User(</a:t>
            </a:r>
            <a:r>
              <a:rPr lang="en" sz="21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"Name"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21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"imageUrl"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onClick: () -&gt; Unit = </a:t>
            </a:r>
            <a:r>
              <a:rPr b="1"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{}</a:t>
            </a:r>
            <a:endParaRPr b="1"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1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verticalAlignment =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Alignment.</a:t>
            </a:r>
            <a:r>
              <a:rPr lang="en" sz="21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CenterVertically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Modifier.</a:t>
            </a:r>
            <a:r>
              <a:rPr i="1" lang="en" sz="21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1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1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1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fillMaxWidth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 </a:t>
            </a:r>
            <a:r>
              <a:rPr b="1"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21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painterResource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=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R.drawable.</a:t>
            </a:r>
            <a:r>
              <a:rPr i="1" lang="en" sz="21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contentDescription = </a:t>
            </a:r>
            <a:r>
              <a:rPr lang="en" sz="21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"Image"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Modifier.</a:t>
            </a:r>
            <a:r>
              <a:rPr i="1" lang="en" sz="21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1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1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1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clip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i="1" lang="en" sz="21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CircleShape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)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Text(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=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user.name,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Modifier.</a:t>
            </a:r>
            <a:r>
              <a:rPr i="1" lang="en" sz="21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1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 = </a:t>
            </a:r>
            <a:r>
              <a:rPr lang="en" sz="21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1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1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clickable </a:t>
            </a:r>
            <a:r>
              <a:rPr b="1"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onClick() </a:t>
            </a:r>
            <a:r>
              <a:rPr b="1"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21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3016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2361781" y="1450009"/>
            <a:ext cx="3670500" cy="3670500"/>
          </a:xfrm>
          <a:prstGeom prst="ellipse">
            <a:avLst/>
          </a:prstGeom>
          <a:gradFill>
            <a:gsLst>
              <a:gs pos="0">
                <a:srgbClr val="28E9FF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8E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2849429" y="2425311"/>
            <a:ext cx="2695200" cy="2695200"/>
          </a:xfrm>
          <a:prstGeom prst="ellipse">
            <a:avLst/>
          </a:prstGeom>
          <a:gradFill>
            <a:gsLst>
              <a:gs pos="0">
                <a:srgbClr val="27FF41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7FF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3341375" y="3356871"/>
            <a:ext cx="1711200" cy="1711200"/>
          </a:xfrm>
          <a:prstGeom prst="ellipse">
            <a:avLst/>
          </a:prstGeom>
          <a:gradFill>
            <a:gsLst>
              <a:gs pos="0">
                <a:srgbClr val="FF4528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10286700" y="5586390"/>
            <a:ext cx="3670500" cy="3670500"/>
          </a:xfrm>
          <a:prstGeom prst="ellipse">
            <a:avLst/>
          </a:prstGeom>
          <a:gradFill>
            <a:gsLst>
              <a:gs pos="0">
                <a:srgbClr val="28E9FF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8E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0774347" y="6561692"/>
            <a:ext cx="2695200" cy="2695200"/>
          </a:xfrm>
          <a:prstGeom prst="ellipse">
            <a:avLst/>
          </a:prstGeom>
          <a:gradFill>
            <a:gsLst>
              <a:gs pos="0">
                <a:srgbClr val="27FF41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7FF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11266293" y="7493252"/>
            <a:ext cx="1711200" cy="1711200"/>
          </a:xfrm>
          <a:prstGeom prst="ellipse">
            <a:avLst/>
          </a:prstGeom>
          <a:gradFill>
            <a:gsLst>
              <a:gs pos="0">
                <a:srgbClr val="FF4528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14371664" y="5586390"/>
            <a:ext cx="3670500" cy="3670500"/>
          </a:xfrm>
          <a:prstGeom prst="ellipse">
            <a:avLst/>
          </a:prstGeom>
          <a:gradFill>
            <a:gsLst>
              <a:gs pos="0">
                <a:srgbClr val="28E9FF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8E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4859312" y="6561692"/>
            <a:ext cx="2695200" cy="2695200"/>
          </a:xfrm>
          <a:prstGeom prst="ellipse">
            <a:avLst/>
          </a:prstGeom>
          <a:gradFill>
            <a:gsLst>
              <a:gs pos="0">
                <a:srgbClr val="27FF41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7FF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15351258" y="7493252"/>
            <a:ext cx="1711200" cy="1711200"/>
          </a:xfrm>
          <a:prstGeom prst="ellipse">
            <a:avLst/>
          </a:prstGeom>
          <a:gradFill>
            <a:gsLst>
              <a:gs pos="0">
                <a:srgbClr val="FF4528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1354003" y="8115671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Image</a:t>
            </a:r>
            <a:endParaRPr sz="2325">
              <a:solidFill>
                <a:srgbClr val="000000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5418754" y="8115671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Text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11354003" y="6864278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clip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5375889" y="6864278"/>
            <a:ext cx="17112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clickable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1354003" y="5855439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size</a:t>
            </a:r>
            <a:endParaRPr sz="2034"/>
          </a:p>
        </p:txBody>
      </p:sp>
      <p:sp>
        <p:nvSpPr>
          <p:cNvPr id="137" name="Google Shape;137;p15"/>
          <p:cNvSpPr txBox="1"/>
          <p:nvPr/>
        </p:nvSpPr>
        <p:spPr>
          <a:xfrm>
            <a:off x="15418754" y="5855439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Padding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3417561" y="4041733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Row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2924334" y="2833206"/>
            <a:ext cx="2541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fillMaxWidth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3417561" y="1781502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Padding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cxnSp>
        <p:nvCxnSpPr>
          <p:cNvPr id="141" name="Google Shape;141;p15"/>
          <p:cNvCxnSpPr>
            <a:stCxn id="126" idx="0"/>
          </p:cNvCxnSpPr>
          <p:nvPr/>
        </p:nvCxnSpPr>
        <p:spPr>
          <a:xfrm flipH="1" rot="10800000">
            <a:off x="12121950" y="4931490"/>
            <a:ext cx="727500" cy="654900"/>
          </a:xfrm>
          <a:prstGeom prst="straightConnector1">
            <a:avLst/>
          </a:prstGeom>
          <a:noFill/>
          <a:ln cap="flat" cmpd="sng" w="32300">
            <a:solidFill>
              <a:srgbClr val="FE290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" name="Google Shape;142;p15"/>
          <p:cNvCxnSpPr>
            <a:stCxn id="129" idx="0"/>
          </p:cNvCxnSpPr>
          <p:nvPr/>
        </p:nvCxnSpPr>
        <p:spPr>
          <a:xfrm rot="10800000">
            <a:off x="15544814" y="4981590"/>
            <a:ext cx="662100" cy="604800"/>
          </a:xfrm>
          <a:prstGeom prst="straightConnector1">
            <a:avLst/>
          </a:prstGeom>
          <a:noFill/>
          <a:ln cap="flat" cmpd="sng" w="32300">
            <a:solidFill>
              <a:srgbClr val="FE290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5824" y="3873939"/>
            <a:ext cx="3068587" cy="295056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/>
          <p:nvPr/>
        </p:nvSpPr>
        <p:spPr>
          <a:xfrm>
            <a:off x="2843981" y="1240059"/>
            <a:ext cx="3670500" cy="3670500"/>
          </a:xfrm>
          <a:prstGeom prst="ellipse">
            <a:avLst/>
          </a:prstGeom>
          <a:gradFill>
            <a:gsLst>
              <a:gs pos="0">
                <a:srgbClr val="28E9FF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8E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3331629" y="2215361"/>
            <a:ext cx="2695200" cy="2695200"/>
          </a:xfrm>
          <a:prstGeom prst="ellipse">
            <a:avLst/>
          </a:prstGeom>
          <a:gradFill>
            <a:gsLst>
              <a:gs pos="0">
                <a:srgbClr val="27FF41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7FF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3823575" y="3146921"/>
            <a:ext cx="1711200" cy="1711200"/>
          </a:xfrm>
          <a:prstGeom prst="ellipse">
            <a:avLst/>
          </a:prstGeom>
          <a:gradFill>
            <a:gsLst>
              <a:gs pos="0">
                <a:srgbClr val="FF4528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68900" y="5376440"/>
            <a:ext cx="3670500" cy="3670500"/>
          </a:xfrm>
          <a:prstGeom prst="ellipse">
            <a:avLst/>
          </a:prstGeom>
          <a:gradFill>
            <a:gsLst>
              <a:gs pos="0">
                <a:srgbClr val="28E9FF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8E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256547" y="6351742"/>
            <a:ext cx="2695200" cy="2695200"/>
          </a:xfrm>
          <a:prstGeom prst="ellipse">
            <a:avLst/>
          </a:prstGeom>
          <a:gradFill>
            <a:gsLst>
              <a:gs pos="0">
                <a:srgbClr val="27FF41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7FF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1748493" y="7283302"/>
            <a:ext cx="1711200" cy="1711200"/>
          </a:xfrm>
          <a:prstGeom prst="ellipse">
            <a:avLst/>
          </a:prstGeom>
          <a:gradFill>
            <a:gsLst>
              <a:gs pos="0">
                <a:srgbClr val="FF4528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853864" y="5376440"/>
            <a:ext cx="3670500" cy="3670500"/>
          </a:xfrm>
          <a:prstGeom prst="ellipse">
            <a:avLst/>
          </a:prstGeom>
          <a:gradFill>
            <a:gsLst>
              <a:gs pos="0">
                <a:srgbClr val="28E9FF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8E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341512" y="6351742"/>
            <a:ext cx="2695200" cy="2695200"/>
          </a:xfrm>
          <a:prstGeom prst="ellipse">
            <a:avLst/>
          </a:prstGeom>
          <a:gradFill>
            <a:gsLst>
              <a:gs pos="0">
                <a:srgbClr val="27FF41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27FF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833458" y="7283302"/>
            <a:ext cx="1711200" cy="1711200"/>
          </a:xfrm>
          <a:prstGeom prst="ellipse">
            <a:avLst/>
          </a:prstGeom>
          <a:gradFill>
            <a:gsLst>
              <a:gs pos="0">
                <a:srgbClr val="FF4528"/>
              </a:gs>
              <a:gs pos="53000">
                <a:schemeClr val="dk1"/>
              </a:gs>
              <a:gs pos="100000">
                <a:schemeClr val="dk1"/>
              </a:gs>
            </a:gsLst>
            <a:lin ang="2700006" scaled="0"/>
          </a:gradFill>
          <a:ln cap="flat" cmpd="sng" w="18450">
            <a:solidFill>
              <a:srgbClr val="FF4528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425" lIns="132875" spcFirstLastPara="1" rIns="132875" wrap="square" tIns="6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836203" y="7905721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Image</a:t>
            </a:r>
            <a:endParaRPr sz="2325">
              <a:solidFill>
                <a:srgbClr val="000000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900954" y="7905721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Text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836203" y="6654328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clip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5858089" y="6654328"/>
            <a:ext cx="17112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clickable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836203" y="5645489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size</a:t>
            </a:r>
            <a:endParaRPr sz="2034"/>
          </a:p>
        </p:txBody>
      </p:sp>
      <p:sp>
        <p:nvSpPr>
          <p:cNvPr id="162" name="Google Shape;162;p16"/>
          <p:cNvSpPr txBox="1"/>
          <p:nvPr/>
        </p:nvSpPr>
        <p:spPr>
          <a:xfrm>
            <a:off x="5900954" y="5645489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Padding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3899761" y="3831783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Row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3406534" y="2623256"/>
            <a:ext cx="2541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fillMaxWidth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3899761" y="1571552"/>
            <a:ext cx="154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425" lIns="132875" spcFirstLastPara="1" rIns="132875" wrap="square" tIns="66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Padding</a:t>
            </a:r>
            <a:endParaRPr sz="2325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cxnSp>
        <p:nvCxnSpPr>
          <p:cNvPr id="166" name="Google Shape;166;p16"/>
          <p:cNvCxnSpPr>
            <a:stCxn id="151" idx="0"/>
          </p:cNvCxnSpPr>
          <p:nvPr/>
        </p:nvCxnSpPr>
        <p:spPr>
          <a:xfrm flipH="1" rot="10800000">
            <a:off x="2604150" y="4721540"/>
            <a:ext cx="727500" cy="654900"/>
          </a:xfrm>
          <a:prstGeom prst="straightConnector1">
            <a:avLst/>
          </a:prstGeom>
          <a:noFill/>
          <a:ln cap="flat" cmpd="sng" w="32300">
            <a:solidFill>
              <a:srgbClr val="FE290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" name="Google Shape;167;p16"/>
          <p:cNvCxnSpPr>
            <a:stCxn id="154" idx="0"/>
          </p:cNvCxnSpPr>
          <p:nvPr/>
        </p:nvCxnSpPr>
        <p:spPr>
          <a:xfrm rot="10800000">
            <a:off x="6027014" y="4771640"/>
            <a:ext cx="662100" cy="604800"/>
          </a:xfrm>
          <a:prstGeom prst="straightConnector1">
            <a:avLst/>
          </a:prstGeom>
          <a:noFill/>
          <a:ln cap="flat" cmpd="sng" w="32300">
            <a:solidFill>
              <a:srgbClr val="FE290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8" name="Google Shape;168;p16"/>
          <p:cNvGrpSpPr/>
          <p:nvPr/>
        </p:nvGrpSpPr>
        <p:grpSpPr>
          <a:xfrm>
            <a:off x="11438799" y="1408044"/>
            <a:ext cx="6316278" cy="7882361"/>
            <a:chOff x="6749952" y="465581"/>
            <a:chExt cx="4886869" cy="5846581"/>
          </a:xfrm>
        </p:grpSpPr>
        <p:sp>
          <p:nvSpPr>
            <p:cNvPr id="169" name="Google Shape;169;p16"/>
            <p:cNvSpPr/>
            <p:nvPr/>
          </p:nvSpPr>
          <p:spPr>
            <a:xfrm>
              <a:off x="8042458" y="465581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9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8042458" y="1451447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9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8042458" y="2437313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9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6749952" y="3713730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9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6749952" y="4699596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18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6749952" y="5685462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9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9460921" y="3713730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18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9460921" y="4699596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18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9460921" y="5685462"/>
              <a:ext cx="2175900" cy="626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F4528"/>
                </a:gs>
                <a:gs pos="100000">
                  <a:schemeClr val="dk1"/>
                </a:gs>
              </a:gsLst>
              <a:lin ang="8100019" scaled="0"/>
            </a:gradFill>
            <a:ln cap="flat" cmpd="sng" w="9525">
              <a:solidFill>
                <a:srgbClr val="FF4528">
                  <a:alpha val="8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6650" lIns="133325" spcFirstLastPara="1" rIns="133325" wrap="square" tIns="66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6"/>
          <p:cNvSpPr txBox="1"/>
          <p:nvPr/>
        </p:nvSpPr>
        <p:spPr>
          <a:xfrm>
            <a:off x="13815166" y="4259645"/>
            <a:ext cx="151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Row</a:t>
            </a:r>
            <a:endParaRPr sz="2333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13333082" y="2906848"/>
            <a:ext cx="2484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fillMaxWidth</a:t>
            </a:r>
            <a:endParaRPr sz="2333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13815166" y="1602096"/>
            <a:ext cx="151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Padding</a:t>
            </a:r>
            <a:endParaRPr sz="2333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11993356" y="8626966"/>
            <a:ext cx="151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Image</a:t>
            </a:r>
            <a:endParaRPr sz="2333">
              <a:solidFill>
                <a:srgbClr val="000000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15591110" y="8626965"/>
            <a:ext cx="151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Text</a:t>
            </a:r>
            <a:endParaRPr sz="2333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1990108" y="7297901"/>
            <a:ext cx="151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clip</a:t>
            </a:r>
            <a:endParaRPr sz="2333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15511525" y="7297899"/>
            <a:ext cx="1672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clickable</a:t>
            </a:r>
            <a:endParaRPr sz="2333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11990107" y="5975150"/>
            <a:ext cx="151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size</a:t>
            </a:r>
            <a:endParaRPr sz="2041"/>
          </a:p>
        </p:txBody>
      </p:sp>
      <p:sp>
        <p:nvSpPr>
          <p:cNvPr id="186" name="Google Shape;186;p16"/>
          <p:cNvSpPr txBox="1"/>
          <p:nvPr/>
        </p:nvSpPr>
        <p:spPr>
          <a:xfrm>
            <a:off x="15591113" y="5975150"/>
            <a:ext cx="151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133325" spcFirstLastPara="1" rIns="133325" wrap="square" tIns="66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3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Padding</a:t>
            </a:r>
            <a:endParaRPr sz="2333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cxnSp>
        <p:nvCxnSpPr>
          <p:cNvPr id="187" name="Google Shape;187;p16"/>
          <p:cNvCxnSpPr/>
          <p:nvPr/>
        </p:nvCxnSpPr>
        <p:spPr>
          <a:xfrm>
            <a:off x="12769345" y="8016900"/>
            <a:ext cx="0" cy="4284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p16"/>
          <p:cNvCxnSpPr/>
          <p:nvPr/>
        </p:nvCxnSpPr>
        <p:spPr>
          <a:xfrm>
            <a:off x="12769345" y="5472216"/>
            <a:ext cx="0" cy="2580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89" name="Google Shape;189;p16"/>
          <p:cNvCxnSpPr/>
          <p:nvPr/>
        </p:nvCxnSpPr>
        <p:spPr>
          <a:xfrm>
            <a:off x="16307066" y="8016900"/>
            <a:ext cx="0" cy="4284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90" name="Google Shape;190;p16"/>
          <p:cNvCxnSpPr/>
          <p:nvPr/>
        </p:nvCxnSpPr>
        <p:spPr>
          <a:xfrm>
            <a:off x="14436334" y="3641655"/>
            <a:ext cx="0" cy="4284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16"/>
          <p:cNvCxnSpPr/>
          <p:nvPr/>
        </p:nvCxnSpPr>
        <p:spPr>
          <a:xfrm>
            <a:off x="14436334" y="2252763"/>
            <a:ext cx="0" cy="4284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6"/>
          <p:cNvCxnSpPr/>
          <p:nvPr/>
        </p:nvCxnSpPr>
        <p:spPr>
          <a:xfrm>
            <a:off x="14436334" y="4925753"/>
            <a:ext cx="0" cy="5466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93" name="Google Shape;193;p16"/>
          <p:cNvCxnSpPr/>
          <p:nvPr/>
        </p:nvCxnSpPr>
        <p:spPr>
          <a:xfrm rot="10800000">
            <a:off x="12769166" y="5494443"/>
            <a:ext cx="3537900" cy="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94" name="Google Shape;194;p16"/>
          <p:cNvCxnSpPr/>
          <p:nvPr/>
        </p:nvCxnSpPr>
        <p:spPr>
          <a:xfrm>
            <a:off x="12769345" y="6631660"/>
            <a:ext cx="0" cy="4842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16"/>
          <p:cNvCxnSpPr/>
          <p:nvPr/>
        </p:nvCxnSpPr>
        <p:spPr>
          <a:xfrm>
            <a:off x="16293173" y="5472216"/>
            <a:ext cx="0" cy="2580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96" name="Google Shape;196;p16"/>
          <p:cNvCxnSpPr/>
          <p:nvPr/>
        </p:nvCxnSpPr>
        <p:spPr>
          <a:xfrm>
            <a:off x="16293173" y="6631660"/>
            <a:ext cx="0" cy="484200"/>
          </a:xfrm>
          <a:prstGeom prst="straightConnector1">
            <a:avLst/>
          </a:prstGeom>
          <a:noFill/>
          <a:ln cap="flat" cmpd="sng" w="463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/>
        </p:nvSpPr>
        <p:spPr>
          <a:xfrm>
            <a:off x="206113" y="1339050"/>
            <a:ext cx="13243200" cy="7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975" lIns="185975" spcFirstLastPara="1" rIns="185975" wrap="square" tIns="1859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@Preview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(device = Devices.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PIXEL_4_XL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</a:t>
            </a:r>
            <a:endParaRPr sz="2200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22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modifier: Modifier = 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painterResource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R.drawable.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contentDescription = </a:t>
            </a:r>
            <a:r>
              <a:rPr lang="en" sz="22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"Image"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200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202" name="Google Shape;202;p17"/>
          <p:cNvCxnSpPr/>
          <p:nvPr/>
        </p:nvCxnSpPr>
        <p:spPr>
          <a:xfrm flipH="1">
            <a:off x="7384201" y="5418042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17"/>
          <p:cNvCxnSpPr/>
          <p:nvPr/>
        </p:nvCxnSpPr>
        <p:spPr>
          <a:xfrm flipH="1">
            <a:off x="7885009" y="5418041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204" name="Google Shape;2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3500" y="5316350"/>
            <a:ext cx="2597701" cy="259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/>
        </p:nvSpPr>
        <p:spPr>
          <a:xfrm>
            <a:off x="206125" y="1339050"/>
            <a:ext cx="13243200" cy="7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975" lIns="185975" spcFirstLastPara="1" rIns="185975" wrap="square" tIns="1859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@Preview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(device = Devices.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PIXEL_4_XL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</a:t>
            </a:r>
            <a:endParaRPr sz="2200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22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modifier: Modifier = 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painterResource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R.drawable.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contentDescription = </a:t>
            </a:r>
            <a:r>
              <a:rPr lang="en" sz="22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"Image"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200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210" name="Google Shape;210;p18"/>
          <p:cNvCxnSpPr/>
          <p:nvPr/>
        </p:nvCxnSpPr>
        <p:spPr>
          <a:xfrm flipH="1">
            <a:off x="7354526" y="5436717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18"/>
          <p:cNvCxnSpPr/>
          <p:nvPr/>
        </p:nvCxnSpPr>
        <p:spPr>
          <a:xfrm flipH="1">
            <a:off x="8433284" y="5436716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12" name="Google Shape;212;p18"/>
          <p:cNvSpPr txBox="1"/>
          <p:nvPr/>
        </p:nvSpPr>
        <p:spPr>
          <a:xfrm>
            <a:off x="6803250" y="8000075"/>
            <a:ext cx="18342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Layout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13" name="Google Shape;213;p18"/>
          <p:cNvSpPr txBox="1"/>
          <p:nvPr/>
        </p:nvSpPr>
        <p:spPr>
          <a:xfrm rot="-5400000">
            <a:off x="5605478" y="6278675"/>
            <a:ext cx="27324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Constraints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14" name="Google Shape;214;p18"/>
          <p:cNvSpPr txBox="1"/>
          <p:nvPr/>
        </p:nvSpPr>
        <p:spPr>
          <a:xfrm rot="-5400000">
            <a:off x="6660378" y="6278675"/>
            <a:ext cx="27324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Layout</a:t>
            </a:r>
            <a:endParaRPr sz="2810">
              <a:solidFill>
                <a:schemeClr val="lt1"/>
              </a:solidFill>
            </a:endParaRPr>
          </a:p>
        </p:txBody>
      </p:sp>
      <p:cxnSp>
        <p:nvCxnSpPr>
          <p:cNvPr id="215" name="Google Shape;215;p18"/>
          <p:cNvCxnSpPr/>
          <p:nvPr/>
        </p:nvCxnSpPr>
        <p:spPr>
          <a:xfrm flipH="1">
            <a:off x="9641926" y="5439654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18"/>
          <p:cNvCxnSpPr/>
          <p:nvPr/>
        </p:nvCxnSpPr>
        <p:spPr>
          <a:xfrm flipH="1">
            <a:off x="10683334" y="5439653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17" name="Google Shape;217;p18"/>
          <p:cNvSpPr txBox="1"/>
          <p:nvPr/>
        </p:nvSpPr>
        <p:spPr>
          <a:xfrm>
            <a:off x="9258750" y="8000075"/>
            <a:ext cx="17967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Drawing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11769775" y="5697975"/>
            <a:ext cx="6350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drawWithContent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Drawing before children</a:t>
            </a:r>
            <a:endParaRPr sz="2200">
              <a:solidFill>
                <a:srgbClr val="7A7E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0DA1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drawContent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</a:t>
            </a: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Drawing children</a:t>
            </a:r>
            <a:endParaRPr sz="2200">
              <a:solidFill>
                <a:srgbClr val="7A7E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// Drawing after children</a:t>
            </a:r>
            <a:endParaRPr sz="2200">
              <a:solidFill>
                <a:srgbClr val="7A7E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9090650" y="768900"/>
            <a:ext cx="8889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layout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measurable, constraints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-&gt;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Place to transform constraints</a:t>
            </a:r>
            <a:endParaRPr sz="2200">
              <a:solidFill>
                <a:srgbClr val="7A7E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placeable = measurable.measure(constraints)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Place to transform size</a:t>
            </a:r>
            <a:endParaRPr sz="2200">
              <a:solidFill>
                <a:srgbClr val="7A7E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layout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(placeable.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width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placeable.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height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Place to transform position</a:t>
            </a:r>
            <a:endParaRPr sz="2200">
              <a:solidFill>
                <a:srgbClr val="7A7E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7A7E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placeable.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place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/>
        </p:nvSpPr>
        <p:spPr>
          <a:xfrm>
            <a:off x="206113" y="1339050"/>
            <a:ext cx="13243200" cy="7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5975" lIns="185975" spcFirstLastPara="1" rIns="185975" wrap="square" tIns="1859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@Preview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(device = Devices.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PIXEL_4_XL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</a:t>
            </a:r>
            <a:endParaRPr sz="2200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22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modifier: Modifier = 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painterResource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R.drawable.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contentDescription = </a:t>
            </a:r>
            <a:r>
              <a:rPr lang="en" sz="22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"Image"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Draw red on the current (Image) area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 Add padding (makes internal smaller)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Draw green on the current area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 Add padding (makes internal smaller)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Draw blue on the current area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       Add padding (makes internal smaller)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200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225" name="Google Shape;225;p19"/>
          <p:cNvCxnSpPr/>
          <p:nvPr/>
        </p:nvCxnSpPr>
        <p:spPr>
          <a:xfrm>
            <a:off x="6552404" y="5398204"/>
            <a:ext cx="0" cy="2790300"/>
          </a:xfrm>
          <a:prstGeom prst="straightConnector1">
            <a:avLst/>
          </a:prstGeom>
          <a:noFill/>
          <a:ln cap="flat" cmpd="sng" w="387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6" name="Google Shape;226;p19"/>
          <p:cNvPicPr preferRelativeResize="0"/>
          <p:nvPr/>
        </p:nvPicPr>
        <p:blipFill rotWithShape="1">
          <a:blip r:embed="rId3">
            <a:alphaModFix/>
          </a:blip>
          <a:srcRect b="5443" l="5859" r="4967" t="4150"/>
          <a:stretch/>
        </p:blipFill>
        <p:spPr>
          <a:xfrm>
            <a:off x="13982125" y="3173425"/>
            <a:ext cx="3883200" cy="38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15098100" y="8770300"/>
            <a:ext cx="2566500" cy="94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2400"/>
              </a:spcAft>
              <a:buSzPts val="688"/>
              <a:buNone/>
            </a:pPr>
            <a:r>
              <a:rPr lang="en" sz="3700">
                <a:latin typeface="Geist SemiBold"/>
                <a:ea typeface="Geist SemiBold"/>
                <a:cs typeface="Geist SemiBold"/>
                <a:sym typeface="Geist SemiBold"/>
              </a:rPr>
              <a:t>See code</a:t>
            </a:r>
            <a:endParaRPr sz="3700"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355200" y="1106013"/>
            <a:ext cx="13066800" cy="6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painterResource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R.drawable.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contentDescription = </a:t>
            </a:r>
            <a:r>
              <a:rPr lang="en" sz="22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"Image"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20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779781" y="4484865"/>
            <a:ext cx="57483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0-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0-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0-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0-80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0-80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y: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0-60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0-60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0-60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0-60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0-40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0-40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30, y: 30</a:t>
            </a:r>
            <a:endParaRPr sz="2810">
              <a:solidFill>
                <a:schemeClr val="lt1"/>
              </a:solidFill>
            </a:endParaRPr>
          </a:p>
        </p:txBody>
      </p:sp>
      <p:cxnSp>
        <p:nvCxnSpPr>
          <p:cNvPr id="234" name="Google Shape;234;p20"/>
          <p:cNvCxnSpPr/>
          <p:nvPr/>
        </p:nvCxnSpPr>
        <p:spPr>
          <a:xfrm flipH="1">
            <a:off x="6621326" y="4596267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0"/>
          <p:cNvCxnSpPr/>
          <p:nvPr/>
        </p:nvCxnSpPr>
        <p:spPr>
          <a:xfrm flipH="1">
            <a:off x="12669059" y="4645691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36" name="Google Shape;236;p20"/>
          <p:cNvSpPr txBox="1"/>
          <p:nvPr/>
        </p:nvSpPr>
        <p:spPr>
          <a:xfrm>
            <a:off x="13050611" y="4484865"/>
            <a:ext cx="48822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100, H: 100,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100, H: 100,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80, H: 80,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80, H: 80,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60, H: 60,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60, H: 60,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40, H: 40, x: 30, y: 30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779781" y="7200573"/>
            <a:ext cx="53646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Constraints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13050611" y="7200573"/>
            <a:ext cx="48111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Calculated values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266925" y="2477150"/>
            <a:ext cx="2221800" cy="619500"/>
          </a:xfrm>
          <a:prstGeom prst="rect">
            <a:avLst/>
          </a:prstGeom>
          <a:noFill/>
          <a:ln cap="flat" cmpd="sng" w="573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3500" lIns="183500" spcFirstLastPara="1" rIns="183500" wrap="square" tIns="18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/>
        </p:nvSpPr>
        <p:spPr>
          <a:xfrm>
            <a:off x="355200" y="1106013"/>
            <a:ext cx="13066800" cy="6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fillMaxSize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painterResource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R.drawable.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contentDescription = </a:t>
            </a:r>
            <a:r>
              <a:rPr lang="en" sz="22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"Image"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20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254044" y="4503550"/>
            <a:ext cx="60687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30, y: 30</a:t>
            </a:r>
            <a:endParaRPr sz="2810">
              <a:solidFill>
                <a:schemeClr val="lt1"/>
              </a:solidFill>
            </a:endParaRPr>
          </a:p>
        </p:txBody>
      </p:sp>
      <p:cxnSp>
        <p:nvCxnSpPr>
          <p:cNvPr id="246" name="Google Shape;246;p21"/>
          <p:cNvCxnSpPr/>
          <p:nvPr/>
        </p:nvCxnSpPr>
        <p:spPr>
          <a:xfrm flipH="1">
            <a:off x="5948973" y="4596267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1"/>
          <p:cNvCxnSpPr/>
          <p:nvPr/>
        </p:nvCxnSpPr>
        <p:spPr>
          <a:xfrm flipH="1">
            <a:off x="12463628" y="4664366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8" name="Google Shape;248;p21"/>
          <p:cNvSpPr txBox="1"/>
          <p:nvPr/>
        </p:nvSpPr>
        <p:spPr>
          <a:xfrm>
            <a:off x="12845168" y="4503550"/>
            <a:ext cx="52374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H: 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180</a:t>
            </a: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160, H: 160,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140, H: 140,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120, H: 120,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120, H: 120,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100, H: 100, x: 30, y: 30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574350" y="7219248"/>
            <a:ext cx="53646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Constraints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2845180" y="7219248"/>
            <a:ext cx="48111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Calculated values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266925" y="2477150"/>
            <a:ext cx="2371800" cy="619500"/>
          </a:xfrm>
          <a:prstGeom prst="rect">
            <a:avLst/>
          </a:prstGeom>
          <a:noFill/>
          <a:ln cap="flat" cmpd="sng" w="573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3500" lIns="183500" spcFirstLastPara="1" rIns="183500" wrap="square" tIns="18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2" name="Google Shape;252;p21"/>
          <p:cNvSpPr txBox="1"/>
          <p:nvPr>
            <p:ph idx="1" type="body"/>
          </p:nvPr>
        </p:nvSpPr>
        <p:spPr>
          <a:xfrm>
            <a:off x="15098100" y="8770300"/>
            <a:ext cx="2566500" cy="94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2400"/>
              </a:spcAft>
              <a:buSzPts val="688"/>
              <a:buNone/>
            </a:pPr>
            <a:r>
              <a:rPr lang="en" sz="3700">
                <a:latin typeface="Geist SemiBold"/>
                <a:ea typeface="Geist SemiBold"/>
                <a:cs typeface="Geist SemiBold"/>
                <a:sym typeface="Geist SemiBold"/>
              </a:rPr>
              <a:t>See code</a:t>
            </a:r>
            <a:endParaRPr sz="3700"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355200" y="1106013"/>
            <a:ext cx="13066800" cy="6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7">
              <a:solidFill>
                <a:srgbClr val="9E880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Image(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22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painterResource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R.drawable.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contentDescription = </a:t>
            </a:r>
            <a:r>
              <a:rPr lang="en" sz="22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"Image"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2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2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2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2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</a:t>
            </a:r>
            <a:endParaRPr sz="22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20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370500" y="4484875"/>
            <a:ext cx="61575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0-Inf, H: 0-Inf,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100, H: 100,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80, H: 80,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80, H: 80,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60, H: 60, x: 30, y: 30</a:t>
            </a:r>
            <a:endParaRPr sz="2810">
              <a:solidFill>
                <a:schemeClr val="lt1"/>
              </a:solidFill>
            </a:endParaRPr>
          </a:p>
        </p:txBody>
      </p:sp>
      <p:cxnSp>
        <p:nvCxnSpPr>
          <p:cNvPr id="259" name="Google Shape;259;p22"/>
          <p:cNvCxnSpPr/>
          <p:nvPr/>
        </p:nvCxnSpPr>
        <p:spPr>
          <a:xfrm flipH="1">
            <a:off x="6021101" y="4635192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2"/>
          <p:cNvCxnSpPr/>
          <p:nvPr/>
        </p:nvCxnSpPr>
        <p:spPr>
          <a:xfrm flipH="1">
            <a:off x="12669059" y="4645691"/>
            <a:ext cx="17400" cy="2394300"/>
          </a:xfrm>
          <a:prstGeom prst="straightConnector1">
            <a:avLst/>
          </a:prstGeom>
          <a:noFill/>
          <a:ln cap="flat" cmpd="sng" w="19125">
            <a:solidFill>
              <a:schemeClr val="lt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61" name="Google Shape;261;p22"/>
          <p:cNvSpPr txBox="1"/>
          <p:nvPr/>
        </p:nvSpPr>
        <p:spPr>
          <a:xfrm>
            <a:off x="13050611" y="4484865"/>
            <a:ext cx="48822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100, H: 100,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100, H: 100, x: 0, y: 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80, H: 80,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80, H: 80, x: 10, y: 10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60, H: 60,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60, H: 60, x: 20, y: 20</a:t>
            </a:r>
            <a:endParaRPr sz="2207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W: 40, H: 40, x: 30, y: 30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6779781" y="7200573"/>
            <a:ext cx="53646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Constraints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13050611" y="7200573"/>
            <a:ext cx="48111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0" lIns="183500" spcFirstLastPara="1" rIns="183500" wrap="square" tIns="18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7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Calculated values</a:t>
            </a:r>
            <a:endParaRPr sz="2810">
              <a:solidFill>
                <a:schemeClr val="lt1"/>
              </a:solidFill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2387325" y="5658200"/>
            <a:ext cx="2185500" cy="348300"/>
          </a:xfrm>
          <a:prstGeom prst="rect">
            <a:avLst/>
          </a:prstGeom>
          <a:noFill/>
          <a:ln cap="flat" cmpd="sng" w="573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3500" lIns="183500" spcFirstLastPara="1" rIns="183500" wrap="square" tIns="18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5" name="Google Shape;265;p22"/>
          <p:cNvSpPr txBox="1"/>
          <p:nvPr>
            <p:ph idx="1" type="body"/>
          </p:nvPr>
        </p:nvSpPr>
        <p:spPr>
          <a:xfrm>
            <a:off x="15098100" y="8770300"/>
            <a:ext cx="2566500" cy="94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2400"/>
              </a:spcAft>
              <a:buSzPts val="688"/>
              <a:buNone/>
            </a:pPr>
            <a:r>
              <a:rPr lang="en" sz="3700">
                <a:latin typeface="Geist SemiBold"/>
                <a:ea typeface="Geist SemiBold"/>
                <a:cs typeface="Geist SemiBold"/>
                <a:sym typeface="Geist SemiBold"/>
              </a:rPr>
              <a:t>See code</a:t>
            </a:r>
            <a:endParaRPr sz="3700"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/>
        </p:nvSpPr>
        <p:spPr>
          <a:xfrm>
            <a:off x="605900" y="1634100"/>
            <a:ext cx="10079700" cy="7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30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Modifier.</a:t>
            </a:r>
            <a:r>
              <a:rPr i="1" lang="en" sz="30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30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30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30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 = </a:t>
            </a:r>
            <a:r>
              <a:rPr lang="en" sz="30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painterResource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30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= 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R.drawable.</a:t>
            </a:r>
            <a:r>
              <a:rPr i="1"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</a:t>
            </a:r>
            <a:endParaRPr i="1" sz="3000">
              <a:solidFill>
                <a:srgbClr val="C77DB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30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contentDescription = </a:t>
            </a:r>
            <a:r>
              <a:rPr lang="en" sz="30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"Image"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30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30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30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clip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i="1"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CircleShape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30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30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30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offset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30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30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30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30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30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</a:t>
            </a:r>
            <a:endParaRPr sz="30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3000">
              <a:solidFill>
                <a:srgbClr val="0099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12477000" y="3457450"/>
            <a:ext cx="3675000" cy="3675000"/>
          </a:xfrm>
          <a:prstGeom prst="rect">
            <a:avLst/>
          </a:prstGeom>
          <a:noFill/>
          <a:ln cap="flat" cmpd="sng" w="19050">
            <a:solidFill>
              <a:srgbClr val="08080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12477000" y="3457450"/>
            <a:ext cx="3675000" cy="36750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rgbClr val="08080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12477000" y="3457450"/>
            <a:ext cx="3675000" cy="3675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12462600" y="3446550"/>
            <a:ext cx="3703800" cy="3694800"/>
          </a:xfrm>
          <a:prstGeom prst="ellipse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12931150" y="3903850"/>
            <a:ext cx="3675000" cy="36756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13369750" y="4342750"/>
            <a:ext cx="2797800" cy="27978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77" name="Google Shape;277;p23"/>
          <p:cNvCxnSpPr>
            <a:stCxn id="274" idx="2"/>
            <a:endCxn id="274" idx="2"/>
          </p:cNvCxnSpPr>
          <p:nvPr/>
        </p:nvCxnSpPr>
        <p:spPr>
          <a:xfrm>
            <a:off x="12462600" y="5293950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3"/>
          <p:cNvCxnSpPr/>
          <p:nvPr/>
        </p:nvCxnSpPr>
        <p:spPr>
          <a:xfrm>
            <a:off x="12461400" y="5067250"/>
            <a:ext cx="1200" cy="4554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3"/>
          <p:cNvCxnSpPr/>
          <p:nvPr/>
        </p:nvCxnSpPr>
        <p:spPr>
          <a:xfrm flipH="1" rot="10800000">
            <a:off x="14065200" y="3446550"/>
            <a:ext cx="498600" cy="18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3"/>
          <p:cNvCxnSpPr/>
          <p:nvPr/>
        </p:nvCxnSpPr>
        <p:spPr>
          <a:xfrm>
            <a:off x="12461409" y="3446441"/>
            <a:ext cx="474000" cy="446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281" name="Google Shape;281;p23"/>
          <p:cNvCxnSpPr/>
          <p:nvPr/>
        </p:nvCxnSpPr>
        <p:spPr>
          <a:xfrm>
            <a:off x="16166400" y="5095900"/>
            <a:ext cx="1200" cy="4554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3"/>
          <p:cNvCxnSpPr/>
          <p:nvPr/>
        </p:nvCxnSpPr>
        <p:spPr>
          <a:xfrm flipH="1" rot="10800000">
            <a:off x="14065200" y="7141550"/>
            <a:ext cx="498600" cy="18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3" name="Google Shape;2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9750" y="4342750"/>
            <a:ext cx="2782251" cy="27822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/>
          <p:nvPr/>
        </p:nvSpPr>
        <p:spPr>
          <a:xfrm>
            <a:off x="12461400" y="3456150"/>
            <a:ext cx="3675000" cy="36756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5" name="Google Shape;285;p23"/>
          <p:cNvSpPr txBox="1"/>
          <p:nvPr>
            <p:ph idx="1" type="body"/>
          </p:nvPr>
        </p:nvSpPr>
        <p:spPr>
          <a:xfrm>
            <a:off x="15098100" y="8770300"/>
            <a:ext cx="2566500" cy="94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2400"/>
              </a:spcAft>
              <a:buSzPts val="688"/>
              <a:buNone/>
            </a:pPr>
            <a:r>
              <a:rPr lang="en" sz="3700">
                <a:latin typeface="Geist SemiBold"/>
                <a:ea typeface="Geist SemiBold"/>
                <a:cs typeface="Geist SemiBold"/>
                <a:sym typeface="Geist SemiBold"/>
              </a:rPr>
              <a:t>See code</a:t>
            </a:r>
            <a:endParaRPr sz="3700"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4" title="gabriela_ska_Lets_play_words_in_futuristic_font_on_black_wall_b47c9c6f-368d-4750-b0f1-5ff484571d54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250" y="-1790325"/>
            <a:ext cx="18410500" cy="1386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/>
        </p:nvSpPr>
        <p:spPr>
          <a:xfrm>
            <a:off x="405050" y="1258500"/>
            <a:ext cx="16830000" cy="80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325" lIns="176325" spcFirstLastPara="1" rIns="176325" wrap="square" tIns="1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class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CircleNode(</a:t>
            </a: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 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Color) : DrawModifierNode, Modifier.Node() {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 fun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ContentDrawScope.</a:t>
            </a:r>
            <a:r>
              <a:rPr lang="en" sz="24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400">
                <a:solidFill>
                  <a:srgbClr val="0DA1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drawCircle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data class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CircleElement(</a:t>
            </a: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Color) : ModifierNodeElement&lt;CircleNode&gt;() {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 fun </a:t>
            </a:r>
            <a:r>
              <a:rPr lang="en" sz="24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= CircleNode(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 fun </a:t>
            </a:r>
            <a:r>
              <a:rPr lang="en" sz="24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update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(node: CircleNode) {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node.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endParaRPr sz="2400">
              <a:solidFill>
                <a:srgbClr val="C77DB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Modifier.</a:t>
            </a:r>
            <a:r>
              <a:rPr lang="en" sz="24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circleBackground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(color: Color) = </a:t>
            </a: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then CircleElement(color)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@Preview</a:t>
            </a:r>
            <a:endParaRPr sz="2400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3AE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@Composable</a:t>
            </a:r>
            <a:endParaRPr sz="2400">
              <a:solidFill>
                <a:srgbClr val="B3AE6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CF8E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2400">
                <a:solidFill>
                  <a:srgbClr val="56A8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CirclePreview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2400">
                <a:solidFill>
                  <a:srgbClr val="6BB3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2400">
                <a:solidFill>
                  <a:srgbClr val="56C1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 = 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2400">
                <a:solidFill>
                  <a:srgbClr val="2AAC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.</a:t>
            </a:r>
            <a:r>
              <a:rPr i="1" lang="en" sz="2400">
                <a:solidFill>
                  <a:srgbClr val="57AA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circleBackground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(Color.</a:t>
            </a:r>
            <a:r>
              <a:rPr lang="en" sz="2400">
                <a:solidFill>
                  <a:srgbClr val="C77D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</a:t>
            </a: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)</a:t>
            </a:r>
            <a:endParaRPr sz="2400">
              <a:solidFill>
                <a:srgbClr val="BCBEC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BCB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400">
              <a:solidFill>
                <a:srgbClr val="0033B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296" name="Google Shape;296;p25"/>
          <p:cNvPicPr preferRelativeResize="0"/>
          <p:nvPr/>
        </p:nvPicPr>
        <p:blipFill rotWithShape="1">
          <a:blip r:embed="rId3">
            <a:alphaModFix/>
          </a:blip>
          <a:srcRect b="5756" l="6393" r="4695" t="4862"/>
          <a:stretch/>
        </p:blipFill>
        <p:spPr>
          <a:xfrm>
            <a:off x="14643275" y="6990225"/>
            <a:ext cx="2875825" cy="28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/>
        </p:nvSpPr>
        <p:spPr>
          <a:xfrm>
            <a:off x="999512" y="2995925"/>
            <a:ext cx="36207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8"/>
              <a:buFont typeface="Geist"/>
              <a:buNone/>
            </a:pPr>
            <a:r>
              <a:rPr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LayoutModifierNode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-     changes how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it's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wrapped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content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is measured and laid out.</a:t>
            </a:r>
            <a:endParaRPr sz="2400"/>
          </a:p>
        </p:txBody>
      </p:sp>
      <p:sp>
        <p:nvSpPr>
          <p:cNvPr id="302" name="Google Shape;302;p26"/>
          <p:cNvSpPr txBox="1"/>
          <p:nvPr/>
        </p:nvSpPr>
        <p:spPr>
          <a:xfrm>
            <a:off x="4925454" y="820025"/>
            <a:ext cx="75384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500" lIns="113000" spcFirstLastPara="1" rIns="113000" wrap="square" tIns="565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50">
                <a:solidFill>
                  <a:srgbClr val="FFFF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Node types</a:t>
            </a:r>
            <a:endParaRPr sz="4450">
              <a:solidFill>
                <a:srgbClr val="FFFFFF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3652125" y="5407000"/>
            <a:ext cx="48573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8"/>
              <a:buFont typeface="Geist"/>
              <a:buNone/>
            </a:pPr>
            <a:r>
              <a:rPr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PointerInputModifierNode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- receives </a:t>
            </a:r>
            <a:r>
              <a:rPr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PointerInputChanges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2400"/>
          </a:p>
        </p:txBody>
      </p:sp>
      <p:sp>
        <p:nvSpPr>
          <p:cNvPr id="304" name="Google Shape;304;p26"/>
          <p:cNvSpPr txBox="1"/>
          <p:nvPr/>
        </p:nvSpPr>
        <p:spPr>
          <a:xfrm>
            <a:off x="7499475" y="2995925"/>
            <a:ext cx="33726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8"/>
              <a:buFont typeface="Geist"/>
              <a:buNone/>
            </a:pPr>
            <a:r>
              <a:rPr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DrawModifierNode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- draws into the space of the layout.</a:t>
            </a:r>
            <a:endParaRPr sz="2400"/>
          </a:p>
        </p:txBody>
      </p:sp>
      <p:sp>
        <p:nvSpPr>
          <p:cNvPr id="305" name="Google Shape;305;p26"/>
          <p:cNvSpPr txBox="1"/>
          <p:nvPr/>
        </p:nvSpPr>
        <p:spPr>
          <a:xfrm>
            <a:off x="12859299" y="2995925"/>
            <a:ext cx="44292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8"/>
              <a:buFont typeface="Geist"/>
              <a:buNone/>
            </a:pPr>
            <a:r>
              <a:rPr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SemanticsModifierNode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- adds semantics key/value for use in testing, accessibility, and similar use cases.</a:t>
            </a:r>
            <a:endParaRPr sz="2400"/>
          </a:p>
        </p:txBody>
      </p:sp>
      <p:sp>
        <p:nvSpPr>
          <p:cNvPr id="306" name="Google Shape;306;p26"/>
          <p:cNvSpPr txBox="1"/>
          <p:nvPr/>
        </p:nvSpPr>
        <p:spPr>
          <a:xfrm>
            <a:off x="10198650" y="5407000"/>
            <a:ext cx="42345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8"/>
              <a:buFont typeface="Geist"/>
              <a:buNone/>
            </a:pPr>
            <a:r>
              <a:rPr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LayoutAwareModifierNode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- receives </a:t>
            </a:r>
            <a:r>
              <a:rPr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onMeasured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and </a:t>
            </a:r>
            <a:r>
              <a:rPr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onPlaced </a:t>
            </a:r>
            <a:r>
              <a:rPr lang="en" sz="2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callbacks.</a:t>
            </a:r>
            <a:endParaRPr sz="2400">
              <a:solidFill>
                <a:srgbClr val="FFFFFF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2424156" y="2401700"/>
            <a:ext cx="57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solidFill>
                  <a:srgbClr val="28E9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01.</a:t>
            </a:r>
            <a:endParaRPr sz="1970"/>
          </a:p>
        </p:txBody>
      </p:sp>
      <p:sp>
        <p:nvSpPr>
          <p:cNvPr id="308" name="Google Shape;308;p26"/>
          <p:cNvSpPr txBox="1"/>
          <p:nvPr/>
        </p:nvSpPr>
        <p:spPr>
          <a:xfrm>
            <a:off x="8910458" y="2401700"/>
            <a:ext cx="6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solidFill>
                  <a:srgbClr val="28E9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02.</a:t>
            </a:r>
            <a:endParaRPr sz="1970"/>
          </a:p>
        </p:txBody>
      </p:sp>
      <p:sp>
        <p:nvSpPr>
          <p:cNvPr id="309" name="Google Shape;309;p26"/>
          <p:cNvSpPr txBox="1"/>
          <p:nvPr/>
        </p:nvSpPr>
        <p:spPr>
          <a:xfrm>
            <a:off x="14763559" y="2401700"/>
            <a:ext cx="620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solidFill>
                  <a:srgbClr val="28E9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03.</a:t>
            </a:r>
            <a:endParaRPr sz="1970"/>
          </a:p>
        </p:txBody>
      </p:sp>
      <p:sp>
        <p:nvSpPr>
          <p:cNvPr id="310" name="Google Shape;310;p26"/>
          <p:cNvSpPr txBox="1"/>
          <p:nvPr/>
        </p:nvSpPr>
        <p:spPr>
          <a:xfrm>
            <a:off x="12003152" y="4705231"/>
            <a:ext cx="62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solidFill>
                  <a:srgbClr val="28E9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05.</a:t>
            </a:r>
            <a:endParaRPr sz="1970"/>
          </a:p>
        </p:txBody>
      </p:sp>
      <p:sp>
        <p:nvSpPr>
          <p:cNvPr id="311" name="Google Shape;311;p26"/>
          <p:cNvSpPr txBox="1"/>
          <p:nvPr/>
        </p:nvSpPr>
        <p:spPr>
          <a:xfrm>
            <a:off x="5769228" y="4705231"/>
            <a:ext cx="6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solidFill>
                  <a:srgbClr val="28E9FF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04.</a:t>
            </a:r>
            <a:endParaRPr sz="1970"/>
          </a:p>
        </p:txBody>
      </p:sp>
      <p:sp>
        <p:nvSpPr>
          <p:cNvPr id="312" name="Google Shape;312;p26"/>
          <p:cNvSpPr txBox="1"/>
          <p:nvPr/>
        </p:nvSpPr>
        <p:spPr>
          <a:xfrm>
            <a:off x="14532990" y="9203406"/>
            <a:ext cx="27555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25" lIns="128650" spcFirstLastPara="1" rIns="128650" wrap="square" tIns="6432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8"/>
              <a:buFont typeface="Geist"/>
              <a:buNone/>
            </a:pPr>
            <a:r>
              <a:rPr lang="en" sz="3415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Examleps</a:t>
            </a:r>
            <a:endParaRPr sz="3415"/>
          </a:p>
        </p:txBody>
      </p:sp>
      <p:pic>
        <p:nvPicPr>
          <p:cNvPr id="313" name="Google Shape;3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6271" y="4221395"/>
            <a:ext cx="187185" cy="372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2193" y="4221395"/>
            <a:ext cx="187185" cy="372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9016" y="4221395"/>
            <a:ext cx="187185" cy="372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5016" y="6119757"/>
            <a:ext cx="187185" cy="372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7187" y="6119757"/>
            <a:ext cx="187185" cy="3720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7" title="Screenshot 2026-01-12 at 11.37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0150" y="0"/>
            <a:ext cx="19148295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 title="Screenshot 2026-01-12 at 11.40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2925"/>
            <a:ext cx="17983200" cy="680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 title="Screenshot 2026-01-12 at 11.38.19.png"/>
          <p:cNvPicPr preferRelativeResize="0"/>
          <p:nvPr/>
        </p:nvPicPr>
        <p:blipFill rotWithShape="1">
          <a:blip r:embed="rId3">
            <a:alphaModFix/>
          </a:blip>
          <a:srcRect b="2821" l="5546" r="9130" t="2213"/>
          <a:stretch/>
        </p:blipFill>
        <p:spPr>
          <a:xfrm>
            <a:off x="0" y="171425"/>
            <a:ext cx="18288001" cy="1075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450" y="2187025"/>
            <a:ext cx="15695101" cy="591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/>
          <p:nvPr/>
        </p:nvSpPr>
        <p:spPr>
          <a:xfrm rot="8040202">
            <a:off x="-1627923" y="-1438958"/>
            <a:ext cx="4793000" cy="4793000"/>
          </a:xfrm>
          <a:prstGeom prst="ellipse">
            <a:avLst/>
          </a:prstGeom>
          <a:gradFill>
            <a:gsLst>
              <a:gs pos="0">
                <a:srgbClr val="FE2901"/>
              </a:gs>
              <a:gs pos="100000">
                <a:srgbClr val="000000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65900" lIns="131800" spcFirstLastPara="1" rIns="131800" wrap="square" tIns="65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 rot="-5400000">
            <a:off x="5463944" y="-2931890"/>
            <a:ext cx="7359900" cy="16150800"/>
          </a:xfrm>
          <a:prstGeom prst="round2SameRect">
            <a:avLst>
              <a:gd fmla="val 7000" name="adj1"/>
              <a:gd fmla="val 0" name="adj2"/>
            </a:avLst>
          </a:prstGeom>
          <a:solidFill>
            <a:srgbClr val="0C0C0C"/>
          </a:solidFill>
          <a:ln cap="flat" cmpd="sng" w="18300">
            <a:solidFill>
              <a:srgbClr val="E7E6E6">
                <a:alpha val="298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5900" lIns="131800" spcFirstLastPara="1" rIns="131800" wrap="square" tIns="65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1529388" y="7413481"/>
            <a:ext cx="2246100" cy="57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E2901">
                  <a:alpha val="49803"/>
                </a:srgbClr>
              </a:gs>
              <a:gs pos="100000">
                <a:srgbClr val="000000">
                  <a:alpha val="0"/>
                </a:srgbClr>
              </a:gs>
            </a:gsLst>
            <a:lin ang="2700006" scaled="0"/>
          </a:gradFill>
          <a:ln cap="flat" cmpd="sng" w="13725">
            <a:solidFill>
              <a:srgbClr val="FE29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5900" lIns="131800" spcFirstLastPara="1" rIns="131800" wrap="square" tIns="65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31" title="logo-classic-horizont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388" y="2093666"/>
            <a:ext cx="3364250" cy="93634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1"/>
          <p:cNvSpPr txBox="1"/>
          <p:nvPr/>
        </p:nvSpPr>
        <p:spPr>
          <a:xfrm>
            <a:off x="1501923" y="3443012"/>
            <a:ext cx="6344100" cy="3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131800" spcFirstLastPara="1" rIns="131800" wrap="square" tIns="65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02"/>
              <a:buFont typeface="Geist SemiBold"/>
              <a:buNone/>
            </a:pPr>
            <a:r>
              <a:rPr i="0" lang="en" sz="4901" u="none" cap="none" strike="noStrike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Understanding     Compose modifiers and how their order affects UI</a:t>
            </a:r>
            <a:endParaRPr sz="2018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1646114" y="7358707"/>
            <a:ext cx="20124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0" u="none" cap="none" strike="noStrike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rPr>
              <a:t>Marcin Moskała</a:t>
            </a:r>
            <a:endParaRPr b="0" i="0" sz="1730" u="none" cap="none" strike="noStrike">
              <a:solidFill>
                <a:srgbClr val="FFFFFF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grpSp>
        <p:nvGrpSpPr>
          <p:cNvPr id="348" name="Google Shape;348;p31"/>
          <p:cNvGrpSpPr/>
          <p:nvPr/>
        </p:nvGrpSpPr>
        <p:grpSpPr>
          <a:xfrm>
            <a:off x="3972515" y="7413248"/>
            <a:ext cx="2246024" cy="578266"/>
            <a:chOff x="3033793" y="5003447"/>
            <a:chExt cx="1557900" cy="401100"/>
          </a:xfrm>
        </p:grpSpPr>
        <p:sp>
          <p:nvSpPr>
            <p:cNvPr id="349" name="Google Shape;349;p31"/>
            <p:cNvSpPr/>
            <p:nvPr/>
          </p:nvSpPr>
          <p:spPr>
            <a:xfrm>
              <a:off x="3033793" y="5003447"/>
              <a:ext cx="1557900" cy="401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FE2901">
                    <a:alpha val="49803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6" scaled="0"/>
            </a:gradFill>
            <a:ln cap="flat" cmpd="sng" w="13725">
              <a:solidFill>
                <a:srgbClr val="FE290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5900" lIns="131800" spcFirstLastPara="1" rIns="131800" wrap="square" tIns="65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1"/>
            <p:cNvSpPr txBox="1"/>
            <p:nvPr/>
          </p:nvSpPr>
          <p:spPr>
            <a:xfrm>
              <a:off x="3114755" y="5069769"/>
              <a:ext cx="13959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30" u="none" cap="none" strike="noStrike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730" u="none" cap="none" strike="noStrike">
                  <a:solidFill>
                    <a:srgbClr val="FFFFFF"/>
                  </a:solidFill>
                  <a:latin typeface="Geist Medium"/>
                  <a:ea typeface="Geist Medium"/>
                  <a:cs typeface="Geist Medium"/>
                  <a:sym typeface="Geist Medium"/>
                </a:rPr>
                <a:t>@marcinmoskala</a:t>
              </a:r>
              <a:endParaRPr b="0" i="0" sz="1730" u="none" cap="none" strike="noStrike">
                <a:solidFill>
                  <a:srgbClr val="FFFFFF"/>
                </a:solidFill>
                <a:latin typeface="Geist Medium"/>
                <a:ea typeface="Geist Medium"/>
                <a:cs typeface="Geist Medium"/>
                <a:sym typeface="Geist Medium"/>
              </a:endParaRPr>
            </a:p>
          </p:txBody>
        </p:sp>
      </p:grpSp>
      <p:pic>
        <p:nvPicPr>
          <p:cNvPr id="351" name="Google Shape;3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784" y="2495436"/>
            <a:ext cx="8446730" cy="5452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